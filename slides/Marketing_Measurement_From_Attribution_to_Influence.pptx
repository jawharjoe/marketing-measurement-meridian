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cue: “I work across analytics, engineering, healthcare and marketing. A question that appears everywhere is: did our intervention actually cause a better outcome?”
This is not a full Meridian tutorial. It is a casual conversation about marketing measurement with a brief notebook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influenced their last online purchase: social content, search, review, a friend, or a recommendation engine?
The point is to introduce attribution without jargon. Traditional channels overlap and the customer journey is nonlinear.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attribution in plain terms: allocating credit for a purchase across observed touches.
Do not equate platform-reported conversions with causal incremental conversions. Explain that last-click is only one rule among many attribution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simple hypothetical 1,200 versus 1,000 example to explain the counterfactual.
We observe only one world. MMM, experiments and other causal designs try to estimate the unobserved comparison.
The difference is illustrative rather than a claim about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presenter’s core point. Marketing is observational; budget and sales both react to holidays or promotional cycles.
External factors matter, but indiscriminate features can introduce noise or control for things caused by advertising.
Emphasize understanding the business and causality before writing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Marketing Mix Modeling is a statistical method for estimating how business outcomes relate to changes in marketing activity while adjusting for other factors.
It can estimate incremental contribution, effectiveness and response to budget changes if the underlying assumptions are credible.
Briefly note MMM is a measurement approach, while the classical 7Ps is a marketing strategy framework; they are different meanings of “marketing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DECK AND OPEN THE JUPYTER NOTEBOOK. Don’t run posterior sampling live if it takes too long. Use the already fitted model and existing response curves.
Show the dataset, basic report, three channels, and budget slider. Ask how much modeled incremental revenue changes, and caution that these are model estimates, not observed future revenue.
This workshop model is revenue-based. You can mention that conversions can be an alternative KPI, but do not label its revenue outputs conversions.
Return to slides after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A frequentist model and a Bayesian model can both be good or bad. Neither automatically solves confounding.
My preference for the demo: real marketing comes with external factors and uncertainty, and Bayesian Meridian makes assumptions and distributions visible.
Important qualification: good selection of controls and causal identification are still needed no matter which method we use.
Meridian is a useful modern open-source tool to know; don’t claim it is the sole future of MMM.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with the speaker’s experience building Gemini insight-generation systems. LLMs in marketing should have an actual problem to solve, not merely be trendy.
Examples: retrieval-grounded offer suggestions, natural-language analytics and guided customer service.
Stress responsible personalization: consent, minimizing sensitive data, fairness, and accuracy. Avoid suggesting credit scores or sensitive data be used for marketing personalization without legal and ethical review.
For measurement: experiments, lift, behavioral traces, long-term retention and trust signals, not just 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this paper as an invitation to think critically, not a validated production marketing recipe. It proposes a conceptual 7G Generative Marketing Mix as an extension of the traditional 7Ps framework. This is distinct from econometric Marketing Mix Modeling such as Meridian.
Seven components in the paper: Generative Offer Models, Generative Value Calibration, Generative Access Architectures, Generative Persuasion Systems, Generative Agency Networks, Generative Experience Flows, Generative Trust Signals.
What I like: it asks whether old frameworks capture AI-mediated choices, influence and trust. What is missing for practitioners: evidence and operationalization. The paper itself discusses limitations from cross-sectional and self-report measures and calls for longitudinal/behavioral and experimental research.
Close with: “Not just whether AI belongs in marketing, but where it helps, how we measure that, and when it harms trust.”
Source: https://www.researchgate.net/publication/399671440_Marketing_mix_rebuilding_for_the_age_of_generative_AI_From_7P_to_7G_marketing_mix_model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i.org/10.33545/26648792.2026.v8.i1a.597"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48D5C3"/>
          </a:solidFill>
          <a:ln w="12700">
            <a:solidFill>
              <a:srgbClr val="48D5C3"/>
            </a:solidFill>
            <a:prstDash val="solid"/>
          </a:ln>
        </p:spPr>
      </p:sp>
      <p:sp>
        <p:nvSpPr>
          <p:cNvPr id="3" name="Shape 1"/>
          <p:cNvSpPr/>
          <p:nvPr/>
        </p:nvSpPr>
        <p:spPr>
          <a:xfrm>
            <a:off x="713232" y="685800"/>
            <a:ext cx="4864608" cy="338328"/>
          </a:xfrm>
          <a:prstGeom prst="roundRect">
            <a:avLst>
              <a:gd name="adj" fmla="val 54054"/>
            </a:avLst>
          </a:prstGeom>
          <a:solidFill>
            <a:srgbClr val="263B55"/>
          </a:solidFill>
          <a:ln w="12700">
            <a:solidFill>
              <a:srgbClr val="263B55"/>
            </a:solidFill>
            <a:prstDash val="solid"/>
          </a:ln>
        </p:spPr>
      </p:sp>
      <p:sp>
        <p:nvSpPr>
          <p:cNvPr id="4" name="Text 2"/>
          <p:cNvSpPr/>
          <p:nvPr/>
        </p:nvSpPr>
        <p:spPr>
          <a:xfrm>
            <a:off x="832104" y="722376"/>
            <a:ext cx="4626864" cy="246888"/>
          </a:xfrm>
          <a:prstGeom prst="rect">
            <a:avLst/>
          </a:prstGeom>
          <a:noFill/>
          <a:ln/>
        </p:spPr>
        <p:txBody>
          <a:bodyPr wrap="square" lIns="0" tIns="0" rIns="0" bIns="0" rtlCol="0" anchor="ctr">
            <a:normAutofit/>
          </a:bodyPr>
          <a:lstStyle/>
          <a:p>
            <a:pPr algn="ctr" indent="0" marL="0">
              <a:buNone/>
            </a:pPr>
            <a:r>
              <a:rPr lang="en-US" sz="1050" b="1" spc="50" kern="0" dirty="0">
                <a:solidFill>
                  <a:srgbClr val="48D5C3"/>
                </a:solidFill>
                <a:latin typeface="Aptos" pitchFamily="34" charset="0"/>
                <a:ea typeface="Aptos" pitchFamily="34" charset="-122"/>
                <a:cs typeface="Aptos" pitchFamily="34" charset="-120"/>
              </a:rPr>
              <a:t>AN OPEN CONVERSATION ABOUT DATA, MARKETING &amp; AI</a:t>
            </a:r>
            <a:endParaRPr lang="en-US" sz="1050" dirty="0"/>
          </a:p>
        </p:txBody>
      </p:sp>
      <p:sp>
        <p:nvSpPr>
          <p:cNvPr id="5" name="Text 3"/>
          <p:cNvSpPr/>
          <p:nvPr/>
        </p:nvSpPr>
        <p:spPr>
          <a:xfrm>
            <a:off x="713232" y="1417320"/>
            <a:ext cx="10881360" cy="1993392"/>
          </a:xfrm>
          <a:prstGeom prst="rect">
            <a:avLst/>
          </a:prstGeom>
          <a:noFill/>
          <a:ln/>
        </p:spPr>
        <p:txBody>
          <a:bodyPr wrap="square" lIns="0" tIns="0" rIns="0" bIns="0" rtlCol="0" anchor="ctr">
            <a:normAutofit/>
          </a:bodyPr>
          <a:lstStyle/>
          <a:p>
            <a:pPr algn="l" indent="0" marL="0">
              <a:buNone/>
            </a:pPr>
            <a:r>
              <a:rPr lang="en-US" sz="4250" b="1" dirty="0">
                <a:solidFill>
                  <a:srgbClr val="F7FAFF"/>
                </a:solidFill>
                <a:latin typeface="Aptos" pitchFamily="34" charset="0"/>
                <a:ea typeface="Aptos" pitchFamily="34" charset="-122"/>
                <a:cs typeface="Aptos" pitchFamily="34" charset="-120"/>
              </a:rPr>
              <a:t>Marketing Measurement</a:t>
            </a:r>
            <a:endParaRPr lang="en-US" sz="4250" dirty="0"/>
          </a:p>
          <a:p>
            <a:pPr algn="l" indent="0" marL="0">
              <a:buNone/>
            </a:pPr>
            <a:r>
              <a:rPr lang="en-US" sz="4250" b="1" dirty="0">
                <a:solidFill>
                  <a:srgbClr val="F7FAFF"/>
                </a:solidFill>
                <a:latin typeface="Aptos" pitchFamily="34" charset="0"/>
                <a:ea typeface="Aptos" pitchFamily="34" charset="-122"/>
                <a:cs typeface="Aptos" pitchFamily="34" charset="-120"/>
              </a:rPr>
              <a:t>From Attribution to Influence</a:t>
            </a:r>
            <a:endParaRPr lang="en-US" sz="4250" dirty="0"/>
          </a:p>
        </p:txBody>
      </p:sp>
      <p:sp>
        <p:nvSpPr>
          <p:cNvPr id="6" name="Text 4"/>
          <p:cNvSpPr/>
          <p:nvPr/>
        </p:nvSpPr>
        <p:spPr>
          <a:xfrm>
            <a:off x="731520" y="3785616"/>
            <a:ext cx="10241280" cy="585216"/>
          </a:xfrm>
          <a:prstGeom prst="rect">
            <a:avLst/>
          </a:prstGeom>
          <a:noFill/>
          <a:ln/>
        </p:spPr>
        <p:txBody>
          <a:bodyPr wrap="square" lIns="0" tIns="0" rIns="0" bIns="0" rtlCol="0" anchor="ctr">
            <a:normAutofit/>
          </a:bodyPr>
          <a:lstStyle/>
          <a:p>
            <a:pPr algn="l" indent="0" marL="0">
              <a:buNone/>
            </a:pPr>
            <a:r>
              <a:rPr lang="en-US" sz="2100" dirty="0">
                <a:solidFill>
                  <a:srgbClr val="A8BAD0"/>
                </a:solidFill>
                <a:latin typeface="Aptos" pitchFamily="34" charset="0"/>
                <a:ea typeface="Aptos" pitchFamily="34" charset="-122"/>
                <a:cs typeface="Aptos" pitchFamily="34" charset="-120"/>
              </a:rPr>
              <a:t>Why we measure · What MMM tells us · Where AI takes us next</a:t>
            </a:r>
            <a:endParaRPr lang="en-US" sz="2100" dirty="0"/>
          </a:p>
        </p:txBody>
      </p:sp>
      <p:sp>
        <p:nvSpPr>
          <p:cNvPr id="7" name="Shape 5"/>
          <p:cNvSpPr/>
          <p:nvPr/>
        </p:nvSpPr>
        <p:spPr>
          <a:xfrm>
            <a:off x="740664" y="4700016"/>
            <a:ext cx="10140696" cy="0"/>
          </a:xfrm>
          <a:prstGeom prst="line">
            <a:avLst/>
          </a:prstGeom>
          <a:noFill/>
          <a:ln w="16510">
            <a:solidFill>
              <a:srgbClr val="344763"/>
            </a:solidFill>
            <a:prstDash val="solid"/>
          </a:ln>
        </p:spPr>
      </p:sp>
      <p:sp>
        <p:nvSpPr>
          <p:cNvPr id="8" name="Text 6"/>
          <p:cNvSpPr/>
          <p:nvPr/>
        </p:nvSpPr>
        <p:spPr>
          <a:xfrm>
            <a:off x="740664" y="5038344"/>
            <a:ext cx="9098280" cy="393192"/>
          </a:xfrm>
          <a:prstGeom prst="rect">
            <a:avLst/>
          </a:prstGeom>
          <a:noFill/>
          <a:ln/>
        </p:spPr>
        <p:txBody>
          <a:bodyPr wrap="square" lIns="0" tIns="0" rIns="0" bIns="0" rtlCol="0" anchor="ctr">
            <a:normAutofit/>
          </a:bodyPr>
          <a:lstStyle/>
          <a:p>
            <a:pPr algn="l" indent="0" marL="0">
              <a:buNone/>
            </a:pPr>
            <a:r>
              <a:rPr lang="en-US" sz="1800" b="1" dirty="0">
                <a:solidFill>
                  <a:srgbClr val="48D5C3"/>
                </a:solidFill>
                <a:latin typeface="Aptos" pitchFamily="34" charset="0"/>
                <a:ea typeface="Aptos" pitchFamily="34" charset="-122"/>
                <a:cs typeface="Aptos" pitchFamily="34" charset="-120"/>
              </a:rPr>
              <a:t>With a brief Google Meridian / JupyterLab example</a:t>
            </a:r>
            <a:endParaRPr lang="en-US" sz="1800" dirty="0"/>
          </a:p>
        </p:txBody>
      </p:sp>
      <p:sp>
        <p:nvSpPr>
          <p:cNvPr id="9" name="Text 7"/>
          <p:cNvSpPr/>
          <p:nvPr/>
        </p:nvSpPr>
        <p:spPr>
          <a:xfrm>
            <a:off x="740664" y="6199632"/>
            <a:ext cx="7132320" cy="301752"/>
          </a:xfrm>
          <a:prstGeom prst="rect">
            <a:avLst/>
          </a:prstGeom>
          <a:noFill/>
          <a:ln/>
        </p:spPr>
        <p:txBody>
          <a:bodyPr wrap="square" lIns="0" tIns="0" rIns="0" bIns="0" rtlCol="0" anchor="ctr">
            <a:normAutofit/>
          </a:bodyPr>
          <a:lstStyle/>
          <a:p>
            <a:pPr algn="l" indent="0" marL="0">
              <a:buNone/>
            </a:pPr>
            <a:r>
              <a:rPr lang="en-US" sz="1300" dirty="0">
                <a:solidFill>
                  <a:srgbClr val="A8BAD0"/>
                </a:solidFill>
                <a:latin typeface="Aptos" pitchFamily="34" charset="0"/>
                <a:ea typeface="Aptos" pitchFamily="34" charset="-122"/>
                <a:cs typeface="Aptos" pitchFamily="34" charset="-120"/>
              </a:rPr>
              <a:t>Universidad Galileo  |  October 2026</a:t>
            </a:r>
            <a:endParaRPr lang="en-US" sz="1300" dirty="0"/>
          </a:p>
        </p:txBody>
      </p:sp>
      <p:sp>
        <p:nvSpPr>
          <p:cNvPr id="10" name="Shape 8"/>
          <p:cNvSpPr/>
          <p:nvPr/>
        </p:nvSpPr>
        <p:spPr>
          <a:xfrm>
            <a:off x="10561320" y="4956048"/>
            <a:ext cx="484632" cy="484632"/>
          </a:xfrm>
          <a:prstGeom prst="ellipse">
            <a:avLst/>
          </a:prstGeom>
          <a:solidFill>
            <a:srgbClr val="F8C875"/>
          </a:solidFill>
          <a:ln w="12700">
            <a:solidFill>
              <a:srgbClr val="F8C875"/>
            </a:solidFill>
            <a:prstDash val="solid"/>
          </a:ln>
        </p:spPr>
      </p:sp>
      <p:sp>
        <p:nvSpPr>
          <p:cNvPr id="11" name="Shape 9"/>
          <p:cNvSpPr/>
          <p:nvPr/>
        </p:nvSpPr>
        <p:spPr>
          <a:xfrm>
            <a:off x="11192256" y="4334256"/>
            <a:ext cx="182880" cy="182880"/>
          </a:xfrm>
          <a:prstGeom prst="ellipse">
            <a:avLst/>
          </a:prstGeom>
          <a:solidFill>
            <a:srgbClr val="48D5C3"/>
          </a:solidFill>
          <a:ln w="12700">
            <a:solidFill>
              <a:srgbClr val="48D5C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01 · THE CUSTOMER JOURNEY</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What actually makes somebody buy?</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02</a:t>
            </a:r>
            <a:endParaRPr lang="en-US" sz="900" dirty="0"/>
          </a:p>
        </p:txBody>
      </p:sp>
      <p:sp>
        <p:nvSpPr>
          <p:cNvPr id="8" name="Text 6"/>
          <p:cNvSpPr/>
          <p:nvPr/>
        </p:nvSpPr>
        <p:spPr>
          <a:xfrm>
            <a:off x="640080" y="1481328"/>
            <a:ext cx="10716768" cy="475488"/>
          </a:xfrm>
          <a:prstGeom prst="rect">
            <a:avLst/>
          </a:prstGeom>
          <a:noFill/>
          <a:ln/>
        </p:spPr>
        <p:txBody>
          <a:bodyPr wrap="square" lIns="0" tIns="0" rIns="0" bIns="0" rtlCol="0" anchor="ctr">
            <a:normAutofit/>
          </a:bodyPr>
          <a:lstStyle/>
          <a:p>
            <a:pPr algn="l" indent="0" marL="0">
              <a:buNone/>
            </a:pPr>
            <a:r>
              <a:rPr lang="en-US" sz="2250" b="1" dirty="0">
                <a:solidFill>
                  <a:srgbClr val="48D5C3"/>
                </a:solidFill>
                <a:latin typeface="Aptos" pitchFamily="34" charset="0"/>
                <a:ea typeface="Aptos" pitchFamily="34" charset="-122"/>
                <a:cs typeface="Aptos" pitchFamily="34" charset="-120"/>
              </a:rPr>
              <a:t>A conversion is the end of a journey — not the whole journey.</a:t>
            </a:r>
            <a:endParaRPr lang="en-US" sz="2250" dirty="0"/>
          </a:p>
        </p:txBody>
      </p:sp>
      <p:sp>
        <p:nvSpPr>
          <p:cNvPr id="9" name="Shape 7"/>
          <p:cNvSpPr/>
          <p:nvPr/>
        </p:nvSpPr>
        <p:spPr>
          <a:xfrm>
            <a:off x="612648" y="2414016"/>
            <a:ext cx="2624328" cy="2057400"/>
          </a:xfrm>
          <a:prstGeom prst="roundRect">
            <a:avLst>
              <a:gd name="adj" fmla="val 7556"/>
            </a:avLst>
          </a:prstGeom>
          <a:solidFill>
            <a:srgbClr val="1B2D47"/>
          </a:solidFill>
          <a:ln w="12700">
            <a:solidFill>
              <a:srgbClr val="1B2D47"/>
            </a:solidFill>
            <a:prstDash val="solid"/>
          </a:ln>
        </p:spPr>
      </p:sp>
      <p:sp>
        <p:nvSpPr>
          <p:cNvPr id="10" name="Shape 8"/>
          <p:cNvSpPr/>
          <p:nvPr/>
        </p:nvSpPr>
        <p:spPr>
          <a:xfrm>
            <a:off x="813816" y="2697480"/>
            <a:ext cx="274320" cy="274320"/>
          </a:xfrm>
          <a:prstGeom prst="ellipse">
            <a:avLst/>
          </a:prstGeom>
          <a:solidFill>
            <a:srgbClr val="75B6FF"/>
          </a:solidFill>
          <a:ln w="12700">
            <a:solidFill>
              <a:srgbClr val="75B6FF"/>
            </a:solidFill>
            <a:prstDash val="solid"/>
          </a:ln>
        </p:spPr>
      </p:sp>
      <p:sp>
        <p:nvSpPr>
          <p:cNvPr id="11" name="Text 9"/>
          <p:cNvSpPr/>
          <p:nvPr/>
        </p:nvSpPr>
        <p:spPr>
          <a:xfrm>
            <a:off x="813816" y="3182112"/>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F7FAFF"/>
                </a:solidFill>
                <a:latin typeface="Aptos" pitchFamily="34" charset="0"/>
                <a:ea typeface="Aptos" pitchFamily="34" charset="-122"/>
                <a:cs typeface="Aptos" pitchFamily="34" charset="-120"/>
              </a:rPr>
              <a:t>DISCOVER</a:t>
            </a:r>
            <a:endParaRPr lang="en-US" sz="1700" dirty="0"/>
          </a:p>
        </p:txBody>
      </p:sp>
      <p:sp>
        <p:nvSpPr>
          <p:cNvPr id="12" name="Text 10"/>
          <p:cNvSpPr/>
          <p:nvPr/>
        </p:nvSpPr>
        <p:spPr>
          <a:xfrm>
            <a:off x="813816" y="3685032"/>
            <a:ext cx="2194560" cy="420624"/>
          </a:xfrm>
          <a:prstGeom prst="rect">
            <a:avLst/>
          </a:prstGeom>
          <a:noFill/>
          <a:ln/>
        </p:spPr>
        <p:txBody>
          <a:bodyPr wrap="square" lIns="0" tIns="0" rIns="0" bIns="0" rtlCol="0" anchor="ctr">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A video or ad</a:t>
            </a:r>
            <a:endParaRPr lang="en-US" sz="1600" dirty="0"/>
          </a:p>
        </p:txBody>
      </p:sp>
      <p:sp>
        <p:nvSpPr>
          <p:cNvPr id="13" name="Text 11"/>
          <p:cNvSpPr/>
          <p:nvPr/>
        </p:nvSpPr>
        <p:spPr>
          <a:xfrm>
            <a:off x="3291840" y="3118104"/>
            <a:ext cx="237744" cy="438912"/>
          </a:xfrm>
          <a:prstGeom prst="rect">
            <a:avLst/>
          </a:prstGeom>
          <a:noFill/>
          <a:ln/>
        </p:spPr>
        <p:txBody>
          <a:bodyPr wrap="square" lIns="0" tIns="0" rIns="0" bIns="0" rtlCol="0" anchor="ctr">
            <a:normAutofit/>
          </a:bodyPr>
          <a:lstStyle/>
          <a:p>
            <a:pPr algn="ctr" indent="0" marL="0">
              <a:buNone/>
            </a:pPr>
            <a:r>
              <a:rPr lang="en-US" sz="2800" dirty="0">
                <a:solidFill>
                  <a:srgbClr val="48D5C3"/>
                </a:solidFill>
                <a:latin typeface="Aptos" pitchFamily="34" charset="0"/>
                <a:ea typeface="Aptos" pitchFamily="34" charset="-122"/>
                <a:cs typeface="Aptos" pitchFamily="34" charset="-120"/>
              </a:rPr>
              <a:t>→</a:t>
            </a:r>
            <a:endParaRPr lang="en-US" sz="2800" dirty="0"/>
          </a:p>
        </p:txBody>
      </p:sp>
      <p:sp>
        <p:nvSpPr>
          <p:cNvPr id="14" name="Shape 12"/>
          <p:cNvSpPr/>
          <p:nvPr/>
        </p:nvSpPr>
        <p:spPr>
          <a:xfrm>
            <a:off x="3529584" y="2414016"/>
            <a:ext cx="2624328" cy="2057400"/>
          </a:xfrm>
          <a:prstGeom prst="roundRect">
            <a:avLst>
              <a:gd name="adj" fmla="val 7556"/>
            </a:avLst>
          </a:prstGeom>
          <a:solidFill>
            <a:srgbClr val="1B2D47"/>
          </a:solidFill>
          <a:ln w="12700">
            <a:solidFill>
              <a:srgbClr val="1B2D47"/>
            </a:solidFill>
            <a:prstDash val="solid"/>
          </a:ln>
        </p:spPr>
      </p:sp>
      <p:sp>
        <p:nvSpPr>
          <p:cNvPr id="15" name="Shape 13"/>
          <p:cNvSpPr/>
          <p:nvPr/>
        </p:nvSpPr>
        <p:spPr>
          <a:xfrm>
            <a:off x="3730752" y="2697480"/>
            <a:ext cx="274320" cy="274320"/>
          </a:xfrm>
          <a:prstGeom prst="ellipse">
            <a:avLst/>
          </a:prstGeom>
          <a:solidFill>
            <a:srgbClr val="48D5C3"/>
          </a:solidFill>
          <a:ln w="12700">
            <a:solidFill>
              <a:srgbClr val="48D5C3"/>
            </a:solidFill>
            <a:prstDash val="solid"/>
          </a:ln>
        </p:spPr>
      </p:sp>
      <p:sp>
        <p:nvSpPr>
          <p:cNvPr id="16" name="Text 14"/>
          <p:cNvSpPr/>
          <p:nvPr/>
        </p:nvSpPr>
        <p:spPr>
          <a:xfrm>
            <a:off x="3730752" y="3182112"/>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F7FAFF"/>
                </a:solidFill>
                <a:latin typeface="Aptos" pitchFamily="34" charset="0"/>
                <a:ea typeface="Aptos" pitchFamily="34" charset="-122"/>
                <a:cs typeface="Aptos" pitchFamily="34" charset="-120"/>
              </a:rPr>
              <a:t>CONSIDER</a:t>
            </a:r>
            <a:endParaRPr lang="en-US" sz="1700" dirty="0"/>
          </a:p>
        </p:txBody>
      </p:sp>
      <p:sp>
        <p:nvSpPr>
          <p:cNvPr id="17" name="Text 15"/>
          <p:cNvSpPr/>
          <p:nvPr/>
        </p:nvSpPr>
        <p:spPr>
          <a:xfrm>
            <a:off x="3730752" y="3685032"/>
            <a:ext cx="2194560" cy="420624"/>
          </a:xfrm>
          <a:prstGeom prst="rect">
            <a:avLst/>
          </a:prstGeom>
          <a:noFill/>
          <a:ln/>
        </p:spPr>
        <p:txBody>
          <a:bodyPr wrap="square" lIns="0" tIns="0" rIns="0" bIns="0" rtlCol="0" anchor="ctr">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Search + reviews</a:t>
            </a:r>
            <a:endParaRPr lang="en-US" sz="1600" dirty="0"/>
          </a:p>
        </p:txBody>
      </p:sp>
      <p:sp>
        <p:nvSpPr>
          <p:cNvPr id="18" name="Text 16"/>
          <p:cNvSpPr/>
          <p:nvPr/>
        </p:nvSpPr>
        <p:spPr>
          <a:xfrm>
            <a:off x="6208776" y="3118104"/>
            <a:ext cx="237744" cy="438912"/>
          </a:xfrm>
          <a:prstGeom prst="rect">
            <a:avLst/>
          </a:prstGeom>
          <a:noFill/>
          <a:ln/>
        </p:spPr>
        <p:txBody>
          <a:bodyPr wrap="square" lIns="0" tIns="0" rIns="0" bIns="0" rtlCol="0" anchor="ctr">
            <a:normAutofit/>
          </a:bodyPr>
          <a:lstStyle/>
          <a:p>
            <a:pPr algn="ctr" indent="0" marL="0">
              <a:buNone/>
            </a:pPr>
            <a:r>
              <a:rPr lang="en-US" sz="2800" dirty="0">
                <a:solidFill>
                  <a:srgbClr val="48D5C3"/>
                </a:solidFill>
                <a:latin typeface="Aptos" pitchFamily="34" charset="0"/>
                <a:ea typeface="Aptos" pitchFamily="34" charset="-122"/>
                <a:cs typeface="Aptos" pitchFamily="34" charset="-120"/>
              </a:rPr>
              <a:t>→</a:t>
            </a:r>
            <a:endParaRPr lang="en-US" sz="2800" dirty="0"/>
          </a:p>
        </p:txBody>
      </p:sp>
      <p:sp>
        <p:nvSpPr>
          <p:cNvPr id="19" name="Shape 17"/>
          <p:cNvSpPr/>
          <p:nvPr/>
        </p:nvSpPr>
        <p:spPr>
          <a:xfrm>
            <a:off x="6446520" y="2414016"/>
            <a:ext cx="2624328" cy="2057400"/>
          </a:xfrm>
          <a:prstGeom prst="roundRect">
            <a:avLst>
              <a:gd name="adj" fmla="val 7556"/>
            </a:avLst>
          </a:prstGeom>
          <a:solidFill>
            <a:srgbClr val="1B2D47"/>
          </a:solidFill>
          <a:ln w="12700">
            <a:solidFill>
              <a:srgbClr val="1B2D47"/>
            </a:solidFill>
            <a:prstDash val="solid"/>
          </a:ln>
        </p:spPr>
      </p:sp>
      <p:sp>
        <p:nvSpPr>
          <p:cNvPr id="20" name="Shape 18"/>
          <p:cNvSpPr/>
          <p:nvPr/>
        </p:nvSpPr>
        <p:spPr>
          <a:xfrm>
            <a:off x="6647688" y="2697480"/>
            <a:ext cx="274320" cy="274320"/>
          </a:xfrm>
          <a:prstGeom prst="ellipse">
            <a:avLst/>
          </a:prstGeom>
          <a:solidFill>
            <a:srgbClr val="F8C875"/>
          </a:solidFill>
          <a:ln w="12700">
            <a:solidFill>
              <a:srgbClr val="F8C875"/>
            </a:solidFill>
            <a:prstDash val="solid"/>
          </a:ln>
        </p:spPr>
      </p:sp>
      <p:sp>
        <p:nvSpPr>
          <p:cNvPr id="21" name="Text 19"/>
          <p:cNvSpPr/>
          <p:nvPr/>
        </p:nvSpPr>
        <p:spPr>
          <a:xfrm>
            <a:off x="6647688" y="3182112"/>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F7FAFF"/>
                </a:solidFill>
                <a:latin typeface="Aptos" pitchFamily="34" charset="0"/>
                <a:ea typeface="Aptos" pitchFamily="34" charset="-122"/>
                <a:cs typeface="Aptos" pitchFamily="34" charset="-120"/>
              </a:rPr>
              <a:t>TRUST</a:t>
            </a:r>
            <a:endParaRPr lang="en-US" sz="1700" dirty="0"/>
          </a:p>
        </p:txBody>
      </p:sp>
      <p:sp>
        <p:nvSpPr>
          <p:cNvPr id="22" name="Text 20"/>
          <p:cNvSpPr/>
          <p:nvPr/>
        </p:nvSpPr>
        <p:spPr>
          <a:xfrm>
            <a:off x="6647688" y="3685032"/>
            <a:ext cx="2194560" cy="420624"/>
          </a:xfrm>
          <a:prstGeom prst="rect">
            <a:avLst/>
          </a:prstGeom>
          <a:noFill/>
          <a:ln/>
        </p:spPr>
        <p:txBody>
          <a:bodyPr wrap="square" lIns="0" tIns="0" rIns="0" bIns="0" rtlCol="0" anchor="ctr">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Experience + evidence</a:t>
            </a:r>
            <a:endParaRPr lang="en-US" sz="1600" dirty="0"/>
          </a:p>
        </p:txBody>
      </p:sp>
      <p:sp>
        <p:nvSpPr>
          <p:cNvPr id="23" name="Text 21"/>
          <p:cNvSpPr/>
          <p:nvPr/>
        </p:nvSpPr>
        <p:spPr>
          <a:xfrm>
            <a:off x="9125712" y="3118104"/>
            <a:ext cx="237744" cy="438912"/>
          </a:xfrm>
          <a:prstGeom prst="rect">
            <a:avLst/>
          </a:prstGeom>
          <a:noFill/>
          <a:ln/>
        </p:spPr>
        <p:txBody>
          <a:bodyPr wrap="square" lIns="0" tIns="0" rIns="0" bIns="0" rtlCol="0" anchor="ctr">
            <a:normAutofit/>
          </a:bodyPr>
          <a:lstStyle/>
          <a:p>
            <a:pPr algn="ctr" indent="0" marL="0">
              <a:buNone/>
            </a:pPr>
            <a:r>
              <a:rPr lang="en-US" sz="2800" dirty="0">
                <a:solidFill>
                  <a:srgbClr val="48D5C3"/>
                </a:solidFill>
                <a:latin typeface="Aptos" pitchFamily="34" charset="0"/>
                <a:ea typeface="Aptos" pitchFamily="34" charset="-122"/>
                <a:cs typeface="Aptos" pitchFamily="34" charset="-120"/>
              </a:rPr>
              <a:t>→</a:t>
            </a:r>
            <a:endParaRPr lang="en-US" sz="2800" dirty="0"/>
          </a:p>
        </p:txBody>
      </p:sp>
      <p:sp>
        <p:nvSpPr>
          <p:cNvPr id="24" name="Shape 22"/>
          <p:cNvSpPr/>
          <p:nvPr/>
        </p:nvSpPr>
        <p:spPr>
          <a:xfrm>
            <a:off x="9363456" y="2414016"/>
            <a:ext cx="2624328" cy="2057400"/>
          </a:xfrm>
          <a:prstGeom prst="roundRect">
            <a:avLst>
              <a:gd name="adj" fmla="val 7556"/>
            </a:avLst>
          </a:prstGeom>
          <a:solidFill>
            <a:srgbClr val="263B55"/>
          </a:solidFill>
          <a:ln w="12700">
            <a:solidFill>
              <a:srgbClr val="263B55"/>
            </a:solidFill>
            <a:prstDash val="solid"/>
          </a:ln>
        </p:spPr>
      </p:sp>
      <p:sp>
        <p:nvSpPr>
          <p:cNvPr id="25" name="Shape 23"/>
          <p:cNvSpPr/>
          <p:nvPr/>
        </p:nvSpPr>
        <p:spPr>
          <a:xfrm>
            <a:off x="9564624" y="2697480"/>
            <a:ext cx="274320" cy="274320"/>
          </a:xfrm>
          <a:prstGeom prst="ellipse">
            <a:avLst/>
          </a:prstGeom>
          <a:solidFill>
            <a:srgbClr val="FD9CA4"/>
          </a:solidFill>
          <a:ln w="12700">
            <a:solidFill>
              <a:srgbClr val="FD9CA4"/>
            </a:solidFill>
            <a:prstDash val="solid"/>
          </a:ln>
        </p:spPr>
      </p:sp>
      <p:sp>
        <p:nvSpPr>
          <p:cNvPr id="26" name="Text 24"/>
          <p:cNvSpPr/>
          <p:nvPr/>
        </p:nvSpPr>
        <p:spPr>
          <a:xfrm>
            <a:off x="9564624" y="3182112"/>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F7FAFF"/>
                </a:solidFill>
                <a:latin typeface="Aptos" pitchFamily="34" charset="0"/>
                <a:ea typeface="Aptos" pitchFamily="34" charset="-122"/>
                <a:cs typeface="Aptos" pitchFamily="34" charset="-120"/>
              </a:rPr>
              <a:t>ACT</a:t>
            </a:r>
            <a:endParaRPr lang="en-US" sz="1700" dirty="0"/>
          </a:p>
        </p:txBody>
      </p:sp>
      <p:sp>
        <p:nvSpPr>
          <p:cNvPr id="27" name="Text 25"/>
          <p:cNvSpPr/>
          <p:nvPr/>
        </p:nvSpPr>
        <p:spPr>
          <a:xfrm>
            <a:off x="9564624" y="3685032"/>
            <a:ext cx="2194560" cy="420624"/>
          </a:xfrm>
          <a:prstGeom prst="rect">
            <a:avLst/>
          </a:prstGeom>
          <a:noFill/>
          <a:ln/>
        </p:spPr>
        <p:txBody>
          <a:bodyPr wrap="square" lIns="0" tIns="0" rIns="0" bIns="0" rtlCol="0" anchor="ctr">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Purchase</a:t>
            </a:r>
            <a:endParaRPr lang="en-US" sz="1600" dirty="0"/>
          </a:p>
        </p:txBody>
      </p:sp>
      <p:sp>
        <p:nvSpPr>
          <p:cNvPr id="28" name="Text 26"/>
          <p:cNvSpPr/>
          <p:nvPr/>
        </p:nvSpPr>
        <p:spPr>
          <a:xfrm>
            <a:off x="740664" y="5148072"/>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F7FAFF"/>
                </a:solidFill>
                <a:latin typeface="Aptos" pitchFamily="34" charset="0"/>
                <a:ea typeface="Aptos" pitchFamily="34" charset="-122"/>
                <a:cs typeface="Aptos" pitchFamily="34" charset="-120"/>
              </a:rPr>
              <a:t>Question: which touchpoint deserves the credit?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02 · ATTRIBUTION</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Attribution: who gets credit for the conversion?</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03</a:t>
            </a:r>
            <a:endParaRPr lang="en-US" sz="900" dirty="0"/>
          </a:p>
        </p:txBody>
      </p:sp>
      <p:sp>
        <p:nvSpPr>
          <p:cNvPr id="8" name="Shape 6"/>
          <p:cNvSpPr/>
          <p:nvPr/>
        </p:nvSpPr>
        <p:spPr>
          <a:xfrm>
            <a:off x="621792" y="1572768"/>
            <a:ext cx="10927080" cy="1024128"/>
          </a:xfrm>
          <a:prstGeom prst="roundRect">
            <a:avLst>
              <a:gd name="adj" fmla="val 14286"/>
            </a:avLst>
          </a:prstGeom>
          <a:solidFill>
            <a:srgbClr val="263B55"/>
          </a:solidFill>
          <a:ln w="12700">
            <a:solidFill>
              <a:srgbClr val="263B55"/>
            </a:solidFill>
            <a:prstDash val="solid"/>
          </a:ln>
        </p:spPr>
      </p:sp>
      <p:sp>
        <p:nvSpPr>
          <p:cNvPr id="9" name="Text 7"/>
          <p:cNvSpPr/>
          <p:nvPr/>
        </p:nvSpPr>
        <p:spPr>
          <a:xfrm>
            <a:off x="850392" y="1847088"/>
            <a:ext cx="10515600" cy="484632"/>
          </a:xfrm>
          <a:prstGeom prst="rect">
            <a:avLst/>
          </a:prstGeom>
          <a:noFill/>
          <a:ln/>
        </p:spPr>
        <p:txBody>
          <a:bodyPr wrap="square" lIns="0" tIns="0" rIns="0" bIns="0" rtlCol="0" anchor="ctr">
            <a:normAutofit/>
          </a:bodyPr>
          <a:lstStyle/>
          <a:p>
            <a:pPr algn="ctr" indent="0" marL="0">
              <a:buNone/>
            </a:pPr>
            <a:r>
              <a:rPr lang="en-US" sz="2300" b="1" dirty="0">
                <a:solidFill>
                  <a:srgbClr val="F7FAFF"/>
                </a:solidFill>
                <a:latin typeface="Aptos" pitchFamily="34" charset="0"/>
                <a:ea typeface="Aptos" pitchFamily="34" charset="-122"/>
                <a:cs typeface="Aptos" pitchFamily="34" charset="-120"/>
              </a:rPr>
              <a:t>YouTube ad   →   Google search   →   Facebook reminder   →   Purchase</a:t>
            </a:r>
            <a:endParaRPr lang="en-US" sz="2300" dirty="0"/>
          </a:p>
        </p:txBody>
      </p:sp>
      <p:sp>
        <p:nvSpPr>
          <p:cNvPr id="10" name="Shape 8"/>
          <p:cNvSpPr/>
          <p:nvPr/>
        </p:nvSpPr>
        <p:spPr>
          <a:xfrm>
            <a:off x="621792" y="3054096"/>
            <a:ext cx="5193792" cy="1956816"/>
          </a:xfrm>
          <a:prstGeom prst="roundRect">
            <a:avLst>
              <a:gd name="adj" fmla="val 7944"/>
            </a:avLst>
          </a:prstGeom>
          <a:solidFill>
            <a:srgbClr val="1B2D47"/>
          </a:solidFill>
          <a:ln w="12700">
            <a:solidFill>
              <a:srgbClr val="1B2D47"/>
            </a:solidFill>
            <a:prstDash val="solid"/>
          </a:ln>
        </p:spPr>
      </p:sp>
      <p:sp>
        <p:nvSpPr>
          <p:cNvPr id="11" name="Shape 9"/>
          <p:cNvSpPr/>
          <p:nvPr/>
        </p:nvSpPr>
        <p:spPr>
          <a:xfrm>
            <a:off x="621792" y="3054096"/>
            <a:ext cx="54864" cy="1956816"/>
          </a:xfrm>
          <a:prstGeom prst="rect">
            <a:avLst/>
          </a:prstGeom>
          <a:solidFill>
            <a:srgbClr val="75B6FF"/>
          </a:solidFill>
          <a:ln w="12700">
            <a:solidFill>
              <a:srgbClr val="75B6FF"/>
            </a:solidFill>
            <a:prstDash val="solid"/>
          </a:ln>
        </p:spPr>
      </p:sp>
      <p:sp>
        <p:nvSpPr>
          <p:cNvPr id="12" name="Text 10"/>
          <p:cNvSpPr/>
          <p:nvPr/>
        </p:nvSpPr>
        <p:spPr>
          <a:xfrm>
            <a:off x="822960" y="3218688"/>
            <a:ext cx="4791456"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Last-click attribution</a:t>
            </a:r>
            <a:endParaRPr lang="en-US" sz="1900" dirty="0"/>
          </a:p>
        </p:txBody>
      </p:sp>
      <p:sp>
        <p:nvSpPr>
          <p:cNvPr id="13" name="Text 11"/>
          <p:cNvSpPr/>
          <p:nvPr/>
        </p:nvSpPr>
        <p:spPr>
          <a:xfrm>
            <a:off x="822960" y="3758184"/>
            <a:ext cx="4791456" cy="1078992"/>
          </a:xfrm>
          <a:prstGeom prst="rect">
            <a:avLst/>
          </a:prstGeom>
          <a:noFill/>
          <a:ln/>
        </p:spPr>
        <p:txBody>
          <a:bodyPr wrap="square" lIns="0" tIns="0" rIns="0" bIns="0" rtlCol="0" anchor="t">
            <a:normAutofit/>
          </a:bodyPr>
          <a:lstStyle/>
          <a:p>
            <a:pPr algn="l" indent="0" marL="0">
              <a:buNone/>
            </a:pPr>
            <a:r>
              <a:rPr lang="en-US" sz="1550" dirty="0">
                <a:solidFill>
                  <a:srgbClr val="A8BAD0"/>
                </a:solidFill>
                <a:latin typeface="Aptos" pitchFamily="34" charset="0"/>
                <a:ea typeface="Aptos" pitchFamily="34" charset="-122"/>
                <a:cs typeface="Aptos" pitchFamily="34" charset="-120"/>
              </a:rPr>
              <a:t>Google Search or Facebook might receive most of the credit, depending on the final tracked touchpoint.</a:t>
            </a:r>
            <a:endParaRPr lang="en-US" sz="1550" dirty="0"/>
          </a:p>
        </p:txBody>
      </p:sp>
      <p:sp>
        <p:nvSpPr>
          <p:cNvPr id="14" name="Shape 12"/>
          <p:cNvSpPr/>
          <p:nvPr/>
        </p:nvSpPr>
        <p:spPr>
          <a:xfrm>
            <a:off x="6062472" y="3054096"/>
            <a:ext cx="5458968" cy="1956816"/>
          </a:xfrm>
          <a:prstGeom prst="roundRect">
            <a:avLst>
              <a:gd name="adj" fmla="val 7944"/>
            </a:avLst>
          </a:prstGeom>
          <a:solidFill>
            <a:srgbClr val="1B2D47"/>
          </a:solidFill>
          <a:ln w="12700">
            <a:solidFill>
              <a:srgbClr val="1B2D47"/>
            </a:solidFill>
            <a:prstDash val="solid"/>
          </a:ln>
        </p:spPr>
      </p:sp>
      <p:sp>
        <p:nvSpPr>
          <p:cNvPr id="15" name="Shape 13"/>
          <p:cNvSpPr/>
          <p:nvPr/>
        </p:nvSpPr>
        <p:spPr>
          <a:xfrm>
            <a:off x="6062472" y="3054096"/>
            <a:ext cx="54864" cy="1956816"/>
          </a:xfrm>
          <a:prstGeom prst="rect">
            <a:avLst/>
          </a:prstGeom>
          <a:solidFill>
            <a:srgbClr val="F8C875"/>
          </a:solidFill>
          <a:ln w="12700">
            <a:solidFill>
              <a:srgbClr val="F8C875"/>
            </a:solidFill>
            <a:prstDash val="solid"/>
          </a:ln>
        </p:spPr>
      </p:sp>
      <p:sp>
        <p:nvSpPr>
          <p:cNvPr id="16" name="Text 14"/>
          <p:cNvSpPr/>
          <p:nvPr/>
        </p:nvSpPr>
        <p:spPr>
          <a:xfrm>
            <a:off x="6263640" y="3218688"/>
            <a:ext cx="5056632"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The missing question</a:t>
            </a:r>
            <a:endParaRPr lang="en-US" sz="1900" dirty="0"/>
          </a:p>
        </p:txBody>
      </p:sp>
      <p:sp>
        <p:nvSpPr>
          <p:cNvPr id="17" name="Text 15"/>
          <p:cNvSpPr/>
          <p:nvPr/>
        </p:nvSpPr>
        <p:spPr>
          <a:xfrm>
            <a:off x="6263640" y="3758184"/>
            <a:ext cx="5056632" cy="1078992"/>
          </a:xfrm>
          <a:prstGeom prst="rect">
            <a:avLst/>
          </a:prstGeom>
          <a:noFill/>
          <a:ln/>
        </p:spPr>
        <p:txBody>
          <a:bodyPr wrap="square" lIns="0" tIns="0" rIns="0" bIns="0" rtlCol="0" anchor="t">
            <a:normAutofit/>
          </a:bodyPr>
          <a:lstStyle/>
          <a:p>
            <a:pPr algn="l" indent="0" marL="0">
              <a:buNone/>
            </a:pPr>
            <a:r>
              <a:rPr lang="en-US" sz="1550" dirty="0">
                <a:solidFill>
                  <a:srgbClr val="A8BAD0"/>
                </a:solidFill>
                <a:latin typeface="Aptos" pitchFamily="34" charset="0"/>
                <a:ea typeface="Aptos" pitchFamily="34" charset="-122"/>
                <a:cs typeface="Aptos" pitchFamily="34" charset="-120"/>
              </a:rPr>
              <a:t>Would that person have purchased anyway, even if the advertising had not happened?</a:t>
            </a:r>
            <a:endParaRPr lang="en-US" sz="1550" dirty="0"/>
          </a:p>
        </p:txBody>
      </p:sp>
      <p:sp>
        <p:nvSpPr>
          <p:cNvPr id="18" name="Text 16"/>
          <p:cNvSpPr/>
          <p:nvPr/>
        </p:nvSpPr>
        <p:spPr>
          <a:xfrm>
            <a:off x="685800" y="5532120"/>
            <a:ext cx="10899648" cy="493776"/>
          </a:xfrm>
          <a:prstGeom prst="rect">
            <a:avLst/>
          </a:prstGeom>
          <a:noFill/>
          <a:ln/>
        </p:spPr>
        <p:txBody>
          <a:bodyPr wrap="square" lIns="0" tIns="0" rIns="0" bIns="0" rtlCol="0" anchor="ctr">
            <a:normAutofit/>
          </a:bodyPr>
          <a:lstStyle/>
          <a:p>
            <a:pPr algn="l" indent="0" marL="0">
              <a:buNone/>
            </a:pPr>
            <a:r>
              <a:rPr lang="en-US" sz="2100" b="1" dirty="0">
                <a:solidFill>
                  <a:srgbClr val="48D5C3"/>
                </a:solidFill>
                <a:latin typeface="Aptos" pitchFamily="34" charset="0"/>
                <a:ea typeface="Aptos" pitchFamily="34" charset="-122"/>
                <a:cs typeface="Aptos" pitchFamily="34" charset="-120"/>
              </a:rPr>
              <a:t>Attribution assigns credit. Incrementality asks what changed because of marketing.</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03 · INCREMENTALITY</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The real business question: did marketing change the outcome?</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04</a:t>
            </a:r>
            <a:endParaRPr lang="en-US" sz="900" dirty="0"/>
          </a:p>
        </p:txBody>
      </p:sp>
      <p:sp>
        <p:nvSpPr>
          <p:cNvPr id="8" name="Text 6"/>
          <p:cNvSpPr/>
          <p:nvPr/>
        </p:nvSpPr>
        <p:spPr>
          <a:xfrm>
            <a:off x="685800" y="1463040"/>
            <a:ext cx="10607040" cy="457200"/>
          </a:xfrm>
          <a:prstGeom prst="rect">
            <a:avLst/>
          </a:prstGeom>
          <a:noFill/>
          <a:ln/>
        </p:spPr>
        <p:txBody>
          <a:bodyPr wrap="square" lIns="0" tIns="0" rIns="0" bIns="0" rtlCol="0" anchor="ctr">
            <a:normAutofit/>
          </a:bodyPr>
          <a:lstStyle/>
          <a:p>
            <a:pPr algn="l" indent="0" marL="0">
              <a:buNone/>
            </a:pPr>
            <a:r>
              <a:rPr lang="en-US" sz="2250" b="1" dirty="0">
                <a:solidFill>
                  <a:srgbClr val="48D5C3"/>
                </a:solidFill>
                <a:latin typeface="Aptos" pitchFamily="34" charset="0"/>
                <a:ea typeface="Aptos" pitchFamily="34" charset="-122"/>
                <a:cs typeface="Aptos" pitchFamily="34" charset="-120"/>
              </a:rPr>
              <a:t>Two imagined worlds, one business decision.</a:t>
            </a:r>
            <a:endParaRPr lang="en-US" sz="2250" dirty="0"/>
          </a:p>
        </p:txBody>
      </p:sp>
      <p:sp>
        <p:nvSpPr>
          <p:cNvPr id="9" name="Shape 7"/>
          <p:cNvSpPr/>
          <p:nvPr/>
        </p:nvSpPr>
        <p:spPr>
          <a:xfrm>
            <a:off x="694944" y="2167128"/>
            <a:ext cx="5093208" cy="2331720"/>
          </a:xfrm>
          <a:prstGeom prst="roundRect">
            <a:avLst>
              <a:gd name="adj" fmla="val 6667"/>
            </a:avLst>
          </a:prstGeom>
          <a:solidFill>
            <a:srgbClr val="1B2D47"/>
          </a:solidFill>
          <a:ln w="12700">
            <a:solidFill>
              <a:srgbClr val="1B2D47"/>
            </a:solidFill>
            <a:prstDash val="solid"/>
          </a:ln>
        </p:spPr>
      </p:sp>
      <p:sp>
        <p:nvSpPr>
          <p:cNvPr id="10" name="Shape 8"/>
          <p:cNvSpPr/>
          <p:nvPr/>
        </p:nvSpPr>
        <p:spPr>
          <a:xfrm>
            <a:off x="6336792" y="2167128"/>
            <a:ext cx="5111496" cy="2331720"/>
          </a:xfrm>
          <a:prstGeom prst="roundRect">
            <a:avLst>
              <a:gd name="adj" fmla="val 6667"/>
            </a:avLst>
          </a:prstGeom>
          <a:solidFill>
            <a:srgbClr val="1B2D47"/>
          </a:solidFill>
          <a:ln w="12700">
            <a:solidFill>
              <a:srgbClr val="1B2D47"/>
            </a:solidFill>
            <a:prstDash val="solid"/>
          </a:ln>
        </p:spPr>
      </p:sp>
      <p:sp>
        <p:nvSpPr>
          <p:cNvPr id="11" name="Text 9"/>
          <p:cNvSpPr/>
          <p:nvPr/>
        </p:nvSpPr>
        <p:spPr>
          <a:xfrm>
            <a:off x="950976" y="2487168"/>
            <a:ext cx="4626864" cy="338328"/>
          </a:xfrm>
          <a:prstGeom prst="rect">
            <a:avLst/>
          </a:prstGeom>
          <a:noFill/>
          <a:ln/>
        </p:spPr>
        <p:txBody>
          <a:bodyPr wrap="square" lIns="0" tIns="0" rIns="0" bIns="0" rtlCol="0" anchor="ctr">
            <a:normAutofit/>
          </a:bodyPr>
          <a:lstStyle/>
          <a:p>
            <a:pPr algn="l" indent="0" marL="0">
              <a:buNone/>
            </a:pPr>
            <a:r>
              <a:rPr lang="en-US" sz="1600" b="1" dirty="0">
                <a:solidFill>
                  <a:srgbClr val="75B6FF"/>
                </a:solidFill>
                <a:latin typeface="Aptos" pitchFamily="34" charset="0"/>
                <a:ea typeface="Aptos" pitchFamily="34" charset="-122"/>
                <a:cs typeface="Aptos" pitchFamily="34" charset="-120"/>
              </a:rPr>
              <a:t>WITH CAMPAIGN</a:t>
            </a:r>
            <a:endParaRPr lang="en-US" sz="1600" dirty="0"/>
          </a:p>
        </p:txBody>
      </p:sp>
      <p:sp>
        <p:nvSpPr>
          <p:cNvPr id="12" name="Text 10"/>
          <p:cNvSpPr/>
          <p:nvPr/>
        </p:nvSpPr>
        <p:spPr>
          <a:xfrm>
            <a:off x="969264" y="2980944"/>
            <a:ext cx="4453128" cy="822960"/>
          </a:xfrm>
          <a:prstGeom prst="rect">
            <a:avLst/>
          </a:prstGeom>
          <a:noFill/>
          <a:ln/>
        </p:spPr>
        <p:txBody>
          <a:bodyPr wrap="square" lIns="0" tIns="0" rIns="0" bIns="0" rtlCol="0" anchor="ctr">
            <a:normAutofit/>
          </a:bodyPr>
          <a:lstStyle/>
          <a:p>
            <a:pPr algn="l" indent="0" marL="0">
              <a:buNone/>
            </a:pPr>
            <a:r>
              <a:rPr lang="en-US" sz="4300" b="1" dirty="0">
                <a:solidFill>
                  <a:srgbClr val="F7FAFF"/>
                </a:solidFill>
                <a:latin typeface="Aptos" pitchFamily="34" charset="0"/>
                <a:ea typeface="Aptos" pitchFamily="34" charset="-122"/>
                <a:cs typeface="Aptos" pitchFamily="34" charset="-120"/>
              </a:rPr>
              <a:t>1,200</a:t>
            </a:r>
            <a:endParaRPr lang="en-US" sz="4300" dirty="0"/>
          </a:p>
        </p:txBody>
      </p:sp>
      <p:sp>
        <p:nvSpPr>
          <p:cNvPr id="13" name="Text 11"/>
          <p:cNvSpPr/>
          <p:nvPr/>
        </p:nvSpPr>
        <p:spPr>
          <a:xfrm>
            <a:off x="969264" y="3877056"/>
            <a:ext cx="4663440" cy="329184"/>
          </a:xfrm>
          <a:prstGeom prst="rect">
            <a:avLst/>
          </a:prstGeom>
          <a:noFill/>
          <a:ln/>
        </p:spPr>
        <p:txBody>
          <a:bodyPr wrap="square" lIns="0" tIns="0" rIns="0" bIns="0" rtlCol="0" anchor="ctr">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conversions</a:t>
            </a:r>
            <a:endParaRPr lang="en-US" sz="1600" dirty="0"/>
          </a:p>
        </p:txBody>
      </p:sp>
      <p:sp>
        <p:nvSpPr>
          <p:cNvPr id="14" name="Text 12"/>
          <p:cNvSpPr/>
          <p:nvPr/>
        </p:nvSpPr>
        <p:spPr>
          <a:xfrm>
            <a:off x="6583680" y="2487168"/>
            <a:ext cx="4590288" cy="338328"/>
          </a:xfrm>
          <a:prstGeom prst="rect">
            <a:avLst/>
          </a:prstGeom>
          <a:noFill/>
          <a:ln/>
        </p:spPr>
        <p:txBody>
          <a:bodyPr wrap="square" lIns="0" tIns="0" rIns="0" bIns="0" rtlCol="0" anchor="ctr">
            <a:normAutofit/>
          </a:bodyPr>
          <a:lstStyle/>
          <a:p>
            <a:pPr algn="l" indent="0" marL="0">
              <a:buNone/>
            </a:pPr>
            <a:r>
              <a:rPr lang="en-US" sz="1600" b="1" dirty="0">
                <a:solidFill>
                  <a:srgbClr val="F8C875"/>
                </a:solidFill>
                <a:latin typeface="Aptos" pitchFamily="34" charset="0"/>
                <a:ea typeface="Aptos" pitchFamily="34" charset="-122"/>
                <a:cs typeface="Aptos" pitchFamily="34" charset="-120"/>
              </a:rPr>
              <a:t>WITHOUT CAMPAIGN</a:t>
            </a:r>
            <a:endParaRPr lang="en-US" sz="1600" dirty="0"/>
          </a:p>
        </p:txBody>
      </p:sp>
      <p:sp>
        <p:nvSpPr>
          <p:cNvPr id="15" name="Text 13"/>
          <p:cNvSpPr/>
          <p:nvPr/>
        </p:nvSpPr>
        <p:spPr>
          <a:xfrm>
            <a:off x="6583680" y="2980944"/>
            <a:ext cx="4498848" cy="822960"/>
          </a:xfrm>
          <a:prstGeom prst="rect">
            <a:avLst/>
          </a:prstGeom>
          <a:noFill/>
          <a:ln/>
        </p:spPr>
        <p:txBody>
          <a:bodyPr wrap="square" lIns="0" tIns="0" rIns="0" bIns="0" rtlCol="0" anchor="ctr">
            <a:normAutofit/>
          </a:bodyPr>
          <a:lstStyle/>
          <a:p>
            <a:pPr algn="l" indent="0" marL="0">
              <a:buNone/>
            </a:pPr>
            <a:r>
              <a:rPr lang="en-US" sz="4300" b="1" dirty="0">
                <a:solidFill>
                  <a:srgbClr val="F7FAFF"/>
                </a:solidFill>
                <a:latin typeface="Aptos" pitchFamily="34" charset="0"/>
                <a:ea typeface="Aptos" pitchFamily="34" charset="-122"/>
                <a:cs typeface="Aptos" pitchFamily="34" charset="-120"/>
              </a:rPr>
              <a:t>1,000</a:t>
            </a:r>
            <a:endParaRPr lang="en-US" sz="4300" dirty="0"/>
          </a:p>
        </p:txBody>
      </p:sp>
      <p:sp>
        <p:nvSpPr>
          <p:cNvPr id="16" name="Text 14"/>
          <p:cNvSpPr/>
          <p:nvPr/>
        </p:nvSpPr>
        <p:spPr>
          <a:xfrm>
            <a:off x="6583680" y="3877056"/>
            <a:ext cx="4636008" cy="329184"/>
          </a:xfrm>
          <a:prstGeom prst="rect">
            <a:avLst/>
          </a:prstGeom>
          <a:noFill/>
          <a:ln/>
        </p:spPr>
        <p:txBody>
          <a:bodyPr wrap="square" lIns="0" tIns="0" rIns="0" bIns="0" rtlCol="0" anchor="ctr">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conversions</a:t>
            </a:r>
            <a:endParaRPr lang="en-US" sz="1600" dirty="0"/>
          </a:p>
        </p:txBody>
      </p:sp>
      <p:sp>
        <p:nvSpPr>
          <p:cNvPr id="17" name="Shape 15"/>
          <p:cNvSpPr/>
          <p:nvPr/>
        </p:nvSpPr>
        <p:spPr>
          <a:xfrm>
            <a:off x="713232" y="4965192"/>
            <a:ext cx="2221992" cy="338328"/>
          </a:xfrm>
          <a:prstGeom prst="roundRect">
            <a:avLst>
              <a:gd name="adj" fmla="val 54054"/>
            </a:avLst>
          </a:prstGeom>
          <a:solidFill>
            <a:srgbClr val="263B55"/>
          </a:solidFill>
          <a:ln w="12700">
            <a:solidFill>
              <a:srgbClr val="263B55"/>
            </a:solidFill>
            <a:prstDash val="solid"/>
          </a:ln>
        </p:spPr>
      </p:sp>
      <p:sp>
        <p:nvSpPr>
          <p:cNvPr id="18" name="Text 16"/>
          <p:cNvSpPr/>
          <p:nvPr/>
        </p:nvSpPr>
        <p:spPr>
          <a:xfrm>
            <a:off x="832104" y="5001768"/>
            <a:ext cx="1984248" cy="246888"/>
          </a:xfrm>
          <a:prstGeom prst="rect">
            <a:avLst/>
          </a:prstGeom>
          <a:noFill/>
          <a:ln/>
        </p:spPr>
        <p:txBody>
          <a:bodyPr wrap="square" lIns="0" tIns="0" rIns="0" bIns="0" rtlCol="0" anchor="ctr">
            <a:normAutofit/>
          </a:bodyPr>
          <a:lstStyle/>
          <a:p>
            <a:pPr algn="ctr" indent="0" marL="0">
              <a:buNone/>
            </a:pPr>
            <a:r>
              <a:rPr lang="en-US" sz="1050" b="1" spc="50" kern="0" dirty="0">
                <a:solidFill>
                  <a:srgbClr val="48D5C3"/>
                </a:solidFill>
                <a:latin typeface="Aptos" pitchFamily="34" charset="0"/>
                <a:ea typeface="Aptos" pitchFamily="34" charset="-122"/>
                <a:cs typeface="Aptos" pitchFamily="34" charset="-120"/>
              </a:rPr>
              <a:t>ILLUSTRATIVE EXAMPLE</a:t>
            </a:r>
            <a:endParaRPr lang="en-US" sz="1050" dirty="0"/>
          </a:p>
        </p:txBody>
      </p:sp>
      <p:sp>
        <p:nvSpPr>
          <p:cNvPr id="19" name="Text 17"/>
          <p:cNvSpPr/>
          <p:nvPr/>
        </p:nvSpPr>
        <p:spPr>
          <a:xfrm>
            <a:off x="3182112" y="4956048"/>
            <a:ext cx="8046720" cy="466344"/>
          </a:xfrm>
          <a:prstGeom prst="rect">
            <a:avLst/>
          </a:prstGeom>
          <a:noFill/>
          <a:ln/>
        </p:spPr>
        <p:txBody>
          <a:bodyPr wrap="square" lIns="0" tIns="0" rIns="0" bIns="0" rtlCol="0" anchor="ctr">
            <a:normAutofit/>
          </a:bodyPr>
          <a:lstStyle/>
          <a:p>
            <a:pPr algn="l" indent="0" marL="0">
              <a:buNone/>
            </a:pPr>
            <a:r>
              <a:rPr lang="en-US" sz="2500" b="1" dirty="0">
                <a:solidFill>
                  <a:srgbClr val="48D5C3"/>
                </a:solidFill>
                <a:latin typeface="Aptos" pitchFamily="34" charset="0"/>
                <a:ea typeface="Aptos" pitchFamily="34" charset="-122"/>
                <a:cs typeface="Aptos" pitchFamily="34" charset="-120"/>
              </a:rPr>
              <a:t>Incremental effect: +200 conversions</a:t>
            </a: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04 · REAL-WORLD COMPLEXITY</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Why marketing is hard to measure</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05</a:t>
            </a:r>
            <a:endParaRPr lang="en-US" sz="900" dirty="0"/>
          </a:p>
        </p:txBody>
      </p:sp>
      <p:sp>
        <p:nvSpPr>
          <p:cNvPr id="8" name="Text 6"/>
          <p:cNvSpPr/>
          <p:nvPr/>
        </p:nvSpPr>
        <p:spPr>
          <a:xfrm>
            <a:off x="685800" y="1463040"/>
            <a:ext cx="10789920" cy="475488"/>
          </a:xfrm>
          <a:prstGeom prst="rect">
            <a:avLst/>
          </a:prstGeom>
          <a:noFill/>
          <a:ln/>
        </p:spPr>
        <p:txBody>
          <a:bodyPr wrap="square" lIns="0" tIns="0" rIns="0" bIns="0" rtlCol="0" anchor="ctr">
            <a:normAutofit/>
          </a:bodyPr>
          <a:lstStyle/>
          <a:p>
            <a:pPr algn="l" indent="0" marL="0">
              <a:buNone/>
            </a:pPr>
            <a:r>
              <a:rPr lang="en-US" sz="2300" b="1" dirty="0">
                <a:solidFill>
                  <a:srgbClr val="48D5C3"/>
                </a:solidFill>
                <a:latin typeface="Aptos" pitchFamily="34" charset="0"/>
                <a:ea typeface="Aptos" pitchFamily="34" charset="-122"/>
                <a:cs typeface="Aptos" pitchFamily="34" charset="-120"/>
              </a:rPr>
              <a:t>Marketing does not happen in a controlled environment.</a:t>
            </a:r>
            <a:endParaRPr lang="en-US" sz="2300" dirty="0"/>
          </a:p>
        </p:txBody>
      </p:sp>
      <p:sp>
        <p:nvSpPr>
          <p:cNvPr id="9" name="Shape 7"/>
          <p:cNvSpPr/>
          <p:nvPr/>
        </p:nvSpPr>
        <p:spPr>
          <a:xfrm>
            <a:off x="667512" y="2203704"/>
            <a:ext cx="3511296" cy="1115568"/>
          </a:xfrm>
          <a:prstGeom prst="roundRect">
            <a:avLst>
              <a:gd name="adj" fmla="val 13115"/>
            </a:avLst>
          </a:prstGeom>
          <a:solidFill>
            <a:srgbClr val="1B2D47"/>
          </a:solidFill>
          <a:ln w="12700">
            <a:solidFill>
              <a:srgbClr val="1B2D47"/>
            </a:solidFill>
            <a:prstDash val="solid"/>
          </a:ln>
        </p:spPr>
      </p:sp>
      <p:sp>
        <p:nvSpPr>
          <p:cNvPr id="10" name="Text 8"/>
          <p:cNvSpPr/>
          <p:nvPr/>
        </p:nvSpPr>
        <p:spPr>
          <a:xfrm>
            <a:off x="841248" y="2377440"/>
            <a:ext cx="3172968" cy="292608"/>
          </a:xfrm>
          <a:prstGeom prst="rect">
            <a:avLst/>
          </a:prstGeom>
          <a:noFill/>
          <a:ln/>
        </p:spPr>
        <p:txBody>
          <a:bodyPr wrap="square" lIns="0" tIns="0" rIns="0" bIns="0" rtlCol="0" anchor="ctr">
            <a:normAutofit/>
          </a:bodyPr>
          <a:lstStyle/>
          <a:p>
            <a:pPr algn="l" indent="0" marL="0">
              <a:buNone/>
            </a:pPr>
            <a:r>
              <a:rPr lang="en-US" sz="1540" b="1" dirty="0">
                <a:solidFill>
                  <a:srgbClr val="F8C875"/>
                </a:solidFill>
                <a:latin typeface="Aptos" pitchFamily="34" charset="0"/>
                <a:ea typeface="Aptos" pitchFamily="34" charset="-122"/>
                <a:cs typeface="Aptos" pitchFamily="34" charset="-120"/>
              </a:rPr>
              <a:t>HOLIDAYS</a:t>
            </a:r>
            <a:endParaRPr lang="en-US" sz="1540" dirty="0"/>
          </a:p>
        </p:txBody>
      </p:sp>
      <p:sp>
        <p:nvSpPr>
          <p:cNvPr id="11" name="Text 9"/>
          <p:cNvSpPr/>
          <p:nvPr/>
        </p:nvSpPr>
        <p:spPr>
          <a:xfrm>
            <a:off x="841248" y="2798064"/>
            <a:ext cx="3154680" cy="274320"/>
          </a:xfrm>
          <a:prstGeom prst="rect">
            <a:avLst/>
          </a:prstGeom>
          <a:noFill/>
          <a:ln/>
        </p:spPr>
        <p:txBody>
          <a:bodyPr wrap="square" lIns="0" tIns="0" rIns="0" bIns="0" rtlCol="0" anchor="ctr">
            <a:normAutofit/>
          </a:bodyPr>
          <a:lstStyle/>
          <a:p>
            <a:pPr algn="l" indent="0" marL="0">
              <a:buNone/>
            </a:pPr>
            <a:r>
              <a:rPr lang="en-US" sz="1600" dirty="0">
                <a:solidFill>
                  <a:srgbClr val="F7FAFF"/>
                </a:solidFill>
                <a:latin typeface="Aptos" pitchFamily="34" charset="0"/>
                <a:ea typeface="Aptos" pitchFamily="34" charset="-122"/>
                <a:cs typeface="Aptos" pitchFamily="34" charset="-120"/>
              </a:rPr>
              <a:t>Seasonal demand</a:t>
            </a:r>
            <a:endParaRPr lang="en-US" sz="1600" dirty="0"/>
          </a:p>
        </p:txBody>
      </p:sp>
      <p:sp>
        <p:nvSpPr>
          <p:cNvPr id="12" name="Shape 10"/>
          <p:cNvSpPr/>
          <p:nvPr/>
        </p:nvSpPr>
        <p:spPr>
          <a:xfrm>
            <a:off x="4471416" y="2203704"/>
            <a:ext cx="3511296" cy="1115568"/>
          </a:xfrm>
          <a:prstGeom prst="roundRect">
            <a:avLst>
              <a:gd name="adj" fmla="val 13115"/>
            </a:avLst>
          </a:prstGeom>
          <a:solidFill>
            <a:srgbClr val="1B2D47"/>
          </a:solidFill>
          <a:ln w="12700">
            <a:solidFill>
              <a:srgbClr val="1B2D47"/>
            </a:solidFill>
            <a:prstDash val="solid"/>
          </a:ln>
        </p:spPr>
      </p:sp>
      <p:sp>
        <p:nvSpPr>
          <p:cNvPr id="13" name="Text 11"/>
          <p:cNvSpPr/>
          <p:nvPr/>
        </p:nvSpPr>
        <p:spPr>
          <a:xfrm>
            <a:off x="4645152" y="2377440"/>
            <a:ext cx="3172968" cy="292608"/>
          </a:xfrm>
          <a:prstGeom prst="rect">
            <a:avLst/>
          </a:prstGeom>
          <a:noFill/>
          <a:ln/>
        </p:spPr>
        <p:txBody>
          <a:bodyPr wrap="square" lIns="0" tIns="0" rIns="0" bIns="0" rtlCol="0" anchor="ctr">
            <a:normAutofit/>
          </a:bodyPr>
          <a:lstStyle/>
          <a:p>
            <a:pPr algn="l" indent="0" marL="0">
              <a:buNone/>
            </a:pPr>
            <a:r>
              <a:rPr lang="en-US" sz="1540" b="1" dirty="0">
                <a:solidFill>
                  <a:srgbClr val="FD9CA4"/>
                </a:solidFill>
                <a:latin typeface="Aptos" pitchFamily="34" charset="0"/>
                <a:ea typeface="Aptos" pitchFamily="34" charset="-122"/>
                <a:cs typeface="Aptos" pitchFamily="34" charset="-120"/>
              </a:rPr>
              <a:t>COMPETITORS</a:t>
            </a:r>
            <a:endParaRPr lang="en-US" sz="1540" dirty="0"/>
          </a:p>
        </p:txBody>
      </p:sp>
      <p:sp>
        <p:nvSpPr>
          <p:cNvPr id="14" name="Text 12"/>
          <p:cNvSpPr/>
          <p:nvPr/>
        </p:nvSpPr>
        <p:spPr>
          <a:xfrm>
            <a:off x="4645152" y="2798064"/>
            <a:ext cx="3154680" cy="274320"/>
          </a:xfrm>
          <a:prstGeom prst="rect">
            <a:avLst/>
          </a:prstGeom>
          <a:noFill/>
          <a:ln/>
        </p:spPr>
        <p:txBody>
          <a:bodyPr wrap="square" lIns="0" tIns="0" rIns="0" bIns="0" rtlCol="0" anchor="ctr">
            <a:normAutofit/>
          </a:bodyPr>
          <a:lstStyle/>
          <a:p>
            <a:pPr algn="l" indent="0" marL="0">
              <a:buNone/>
            </a:pPr>
            <a:r>
              <a:rPr lang="en-US" sz="1600" dirty="0">
                <a:solidFill>
                  <a:srgbClr val="F7FAFF"/>
                </a:solidFill>
                <a:latin typeface="Aptos" pitchFamily="34" charset="0"/>
                <a:ea typeface="Aptos" pitchFamily="34" charset="-122"/>
                <a:cs typeface="Aptos" pitchFamily="34" charset="-120"/>
              </a:rPr>
              <a:t>Their ads and offers</a:t>
            </a:r>
            <a:endParaRPr lang="en-US" sz="1600" dirty="0"/>
          </a:p>
        </p:txBody>
      </p:sp>
      <p:sp>
        <p:nvSpPr>
          <p:cNvPr id="15" name="Shape 13"/>
          <p:cNvSpPr/>
          <p:nvPr/>
        </p:nvSpPr>
        <p:spPr>
          <a:xfrm>
            <a:off x="8275320" y="2203704"/>
            <a:ext cx="3511296" cy="1115568"/>
          </a:xfrm>
          <a:prstGeom prst="roundRect">
            <a:avLst>
              <a:gd name="adj" fmla="val 13115"/>
            </a:avLst>
          </a:prstGeom>
          <a:solidFill>
            <a:srgbClr val="1B2D47"/>
          </a:solidFill>
          <a:ln w="12700">
            <a:solidFill>
              <a:srgbClr val="1B2D47"/>
            </a:solidFill>
            <a:prstDash val="solid"/>
          </a:ln>
        </p:spPr>
      </p:sp>
      <p:sp>
        <p:nvSpPr>
          <p:cNvPr id="16" name="Text 14"/>
          <p:cNvSpPr/>
          <p:nvPr/>
        </p:nvSpPr>
        <p:spPr>
          <a:xfrm>
            <a:off x="8449056" y="2377440"/>
            <a:ext cx="3172968" cy="292608"/>
          </a:xfrm>
          <a:prstGeom prst="rect">
            <a:avLst/>
          </a:prstGeom>
          <a:noFill/>
          <a:ln/>
        </p:spPr>
        <p:txBody>
          <a:bodyPr wrap="square" lIns="0" tIns="0" rIns="0" bIns="0" rtlCol="0" anchor="ctr">
            <a:normAutofit/>
          </a:bodyPr>
          <a:lstStyle/>
          <a:p>
            <a:pPr algn="l" indent="0" marL="0">
              <a:buNone/>
            </a:pPr>
            <a:r>
              <a:rPr lang="en-US" sz="1540" b="1" dirty="0">
                <a:solidFill>
                  <a:srgbClr val="48D5C3"/>
                </a:solidFill>
                <a:latin typeface="Aptos" pitchFamily="34" charset="0"/>
                <a:ea typeface="Aptos" pitchFamily="34" charset="-122"/>
                <a:cs typeface="Aptos" pitchFamily="34" charset="-120"/>
              </a:rPr>
              <a:t>PROMOTIONS</a:t>
            </a:r>
            <a:endParaRPr lang="en-US" sz="1540" dirty="0"/>
          </a:p>
        </p:txBody>
      </p:sp>
      <p:sp>
        <p:nvSpPr>
          <p:cNvPr id="17" name="Text 15"/>
          <p:cNvSpPr/>
          <p:nvPr/>
        </p:nvSpPr>
        <p:spPr>
          <a:xfrm>
            <a:off x="8449056" y="2798064"/>
            <a:ext cx="3154680" cy="274320"/>
          </a:xfrm>
          <a:prstGeom prst="rect">
            <a:avLst/>
          </a:prstGeom>
          <a:noFill/>
          <a:ln/>
        </p:spPr>
        <p:txBody>
          <a:bodyPr wrap="square" lIns="0" tIns="0" rIns="0" bIns="0" rtlCol="0" anchor="ctr">
            <a:normAutofit/>
          </a:bodyPr>
          <a:lstStyle/>
          <a:p>
            <a:pPr algn="l" indent="0" marL="0">
              <a:buNone/>
            </a:pPr>
            <a:r>
              <a:rPr lang="en-US" sz="1600" dirty="0">
                <a:solidFill>
                  <a:srgbClr val="F7FAFF"/>
                </a:solidFill>
                <a:latin typeface="Aptos" pitchFamily="34" charset="0"/>
                <a:ea typeface="Aptos" pitchFamily="34" charset="-122"/>
                <a:cs typeface="Aptos" pitchFamily="34" charset="-120"/>
              </a:rPr>
              <a:t>Discounts and pricing</a:t>
            </a:r>
            <a:endParaRPr lang="en-US" sz="1600" dirty="0"/>
          </a:p>
        </p:txBody>
      </p:sp>
      <p:sp>
        <p:nvSpPr>
          <p:cNvPr id="18" name="Shape 16"/>
          <p:cNvSpPr/>
          <p:nvPr/>
        </p:nvSpPr>
        <p:spPr>
          <a:xfrm>
            <a:off x="667512" y="3538728"/>
            <a:ext cx="3511296" cy="1115568"/>
          </a:xfrm>
          <a:prstGeom prst="roundRect">
            <a:avLst>
              <a:gd name="adj" fmla="val 13115"/>
            </a:avLst>
          </a:prstGeom>
          <a:solidFill>
            <a:srgbClr val="1B2D47"/>
          </a:solidFill>
          <a:ln w="12700">
            <a:solidFill>
              <a:srgbClr val="1B2D47"/>
            </a:solidFill>
            <a:prstDash val="solid"/>
          </a:ln>
        </p:spPr>
      </p:sp>
      <p:sp>
        <p:nvSpPr>
          <p:cNvPr id="19" name="Text 17"/>
          <p:cNvSpPr/>
          <p:nvPr/>
        </p:nvSpPr>
        <p:spPr>
          <a:xfrm>
            <a:off x="841248" y="3712464"/>
            <a:ext cx="3172968" cy="292608"/>
          </a:xfrm>
          <a:prstGeom prst="rect">
            <a:avLst/>
          </a:prstGeom>
          <a:noFill/>
          <a:ln/>
        </p:spPr>
        <p:txBody>
          <a:bodyPr wrap="square" lIns="0" tIns="0" rIns="0" bIns="0" rtlCol="0" anchor="ctr">
            <a:normAutofit/>
          </a:bodyPr>
          <a:lstStyle/>
          <a:p>
            <a:pPr algn="l" indent="0" marL="0">
              <a:buNone/>
            </a:pPr>
            <a:r>
              <a:rPr lang="en-US" sz="1540" b="1" dirty="0">
                <a:solidFill>
                  <a:srgbClr val="75B6FF"/>
                </a:solidFill>
                <a:latin typeface="Aptos" pitchFamily="34" charset="0"/>
                <a:ea typeface="Aptos" pitchFamily="34" charset="-122"/>
                <a:cs typeface="Aptos" pitchFamily="34" charset="-120"/>
              </a:rPr>
              <a:t>ECONOMY</a:t>
            </a:r>
            <a:endParaRPr lang="en-US" sz="1540" dirty="0"/>
          </a:p>
        </p:txBody>
      </p:sp>
      <p:sp>
        <p:nvSpPr>
          <p:cNvPr id="20" name="Text 18"/>
          <p:cNvSpPr/>
          <p:nvPr/>
        </p:nvSpPr>
        <p:spPr>
          <a:xfrm>
            <a:off x="841248" y="4133088"/>
            <a:ext cx="3154680" cy="274320"/>
          </a:xfrm>
          <a:prstGeom prst="rect">
            <a:avLst/>
          </a:prstGeom>
          <a:noFill/>
          <a:ln/>
        </p:spPr>
        <p:txBody>
          <a:bodyPr wrap="square" lIns="0" tIns="0" rIns="0" bIns="0" rtlCol="0" anchor="ctr">
            <a:normAutofit/>
          </a:bodyPr>
          <a:lstStyle/>
          <a:p>
            <a:pPr algn="l" indent="0" marL="0">
              <a:buNone/>
            </a:pPr>
            <a:r>
              <a:rPr lang="en-US" sz="1600" dirty="0">
                <a:solidFill>
                  <a:srgbClr val="F7FAFF"/>
                </a:solidFill>
                <a:latin typeface="Aptos" pitchFamily="34" charset="0"/>
                <a:ea typeface="Aptos" pitchFamily="34" charset="-122"/>
                <a:cs typeface="Aptos" pitchFamily="34" charset="-120"/>
              </a:rPr>
              <a:t>Income and demand</a:t>
            </a:r>
            <a:endParaRPr lang="en-US" sz="1600" dirty="0"/>
          </a:p>
        </p:txBody>
      </p:sp>
      <p:sp>
        <p:nvSpPr>
          <p:cNvPr id="21" name="Shape 19"/>
          <p:cNvSpPr/>
          <p:nvPr/>
        </p:nvSpPr>
        <p:spPr>
          <a:xfrm>
            <a:off x="4471416" y="3538728"/>
            <a:ext cx="3511296" cy="1115568"/>
          </a:xfrm>
          <a:prstGeom prst="roundRect">
            <a:avLst>
              <a:gd name="adj" fmla="val 13115"/>
            </a:avLst>
          </a:prstGeom>
          <a:solidFill>
            <a:srgbClr val="1B2D47"/>
          </a:solidFill>
          <a:ln w="12700">
            <a:solidFill>
              <a:srgbClr val="1B2D47"/>
            </a:solidFill>
            <a:prstDash val="solid"/>
          </a:ln>
        </p:spPr>
      </p:sp>
      <p:sp>
        <p:nvSpPr>
          <p:cNvPr id="22" name="Text 20"/>
          <p:cNvSpPr/>
          <p:nvPr/>
        </p:nvSpPr>
        <p:spPr>
          <a:xfrm>
            <a:off x="4645152" y="3712464"/>
            <a:ext cx="3172968" cy="292608"/>
          </a:xfrm>
          <a:prstGeom prst="rect">
            <a:avLst/>
          </a:prstGeom>
          <a:noFill/>
          <a:ln/>
        </p:spPr>
        <p:txBody>
          <a:bodyPr wrap="square" lIns="0" tIns="0" rIns="0" bIns="0" rtlCol="0" anchor="ctr">
            <a:normAutofit/>
          </a:bodyPr>
          <a:lstStyle/>
          <a:p>
            <a:pPr algn="l" indent="0" marL="0">
              <a:buNone/>
            </a:pPr>
            <a:r>
              <a:rPr lang="en-US" sz="1540" b="1" dirty="0">
                <a:solidFill>
                  <a:srgbClr val="F8C875"/>
                </a:solidFill>
                <a:latin typeface="Aptos" pitchFamily="34" charset="0"/>
                <a:ea typeface="Aptos" pitchFamily="34" charset="-122"/>
                <a:cs typeface="Aptos" pitchFamily="34" charset="-120"/>
              </a:rPr>
              <a:t>PRODUCT</a:t>
            </a:r>
            <a:endParaRPr lang="en-US" sz="1540" dirty="0"/>
          </a:p>
        </p:txBody>
      </p:sp>
      <p:sp>
        <p:nvSpPr>
          <p:cNvPr id="23" name="Text 21"/>
          <p:cNvSpPr/>
          <p:nvPr/>
        </p:nvSpPr>
        <p:spPr>
          <a:xfrm>
            <a:off x="4645152" y="4133088"/>
            <a:ext cx="3154680" cy="274320"/>
          </a:xfrm>
          <a:prstGeom prst="rect">
            <a:avLst/>
          </a:prstGeom>
          <a:noFill/>
          <a:ln/>
        </p:spPr>
        <p:txBody>
          <a:bodyPr wrap="square" lIns="0" tIns="0" rIns="0" bIns="0" rtlCol="0" anchor="ctr">
            <a:normAutofit/>
          </a:bodyPr>
          <a:lstStyle/>
          <a:p>
            <a:pPr algn="l" indent="0" marL="0">
              <a:buNone/>
            </a:pPr>
            <a:r>
              <a:rPr lang="en-US" sz="1600" dirty="0">
                <a:solidFill>
                  <a:srgbClr val="F7FAFF"/>
                </a:solidFill>
                <a:latin typeface="Aptos" pitchFamily="34" charset="0"/>
                <a:ea typeface="Aptos" pitchFamily="34" charset="-122"/>
                <a:cs typeface="Aptos" pitchFamily="34" charset="-120"/>
              </a:rPr>
              <a:t>Stock and availability</a:t>
            </a:r>
            <a:endParaRPr lang="en-US" sz="1600" dirty="0"/>
          </a:p>
        </p:txBody>
      </p:sp>
      <p:sp>
        <p:nvSpPr>
          <p:cNvPr id="24" name="Shape 22"/>
          <p:cNvSpPr/>
          <p:nvPr/>
        </p:nvSpPr>
        <p:spPr>
          <a:xfrm>
            <a:off x="8275320" y="3538728"/>
            <a:ext cx="3511296" cy="1115568"/>
          </a:xfrm>
          <a:prstGeom prst="roundRect">
            <a:avLst>
              <a:gd name="adj" fmla="val 13115"/>
            </a:avLst>
          </a:prstGeom>
          <a:solidFill>
            <a:srgbClr val="1B2D47"/>
          </a:solidFill>
          <a:ln w="12700">
            <a:solidFill>
              <a:srgbClr val="1B2D47"/>
            </a:solidFill>
            <a:prstDash val="solid"/>
          </a:ln>
        </p:spPr>
      </p:sp>
      <p:sp>
        <p:nvSpPr>
          <p:cNvPr id="25" name="Text 23"/>
          <p:cNvSpPr/>
          <p:nvPr/>
        </p:nvSpPr>
        <p:spPr>
          <a:xfrm>
            <a:off x="8449056" y="3712464"/>
            <a:ext cx="3172968" cy="292608"/>
          </a:xfrm>
          <a:prstGeom prst="rect">
            <a:avLst/>
          </a:prstGeom>
          <a:noFill/>
          <a:ln/>
        </p:spPr>
        <p:txBody>
          <a:bodyPr wrap="square" lIns="0" tIns="0" rIns="0" bIns="0" rtlCol="0" anchor="ctr">
            <a:normAutofit/>
          </a:bodyPr>
          <a:lstStyle/>
          <a:p>
            <a:pPr algn="l" indent="0" marL="0">
              <a:buNone/>
            </a:pPr>
            <a:r>
              <a:rPr lang="en-US" sz="1540" b="1" dirty="0">
                <a:solidFill>
                  <a:srgbClr val="48D5C3"/>
                </a:solidFill>
                <a:latin typeface="Aptos" pitchFamily="34" charset="0"/>
                <a:ea typeface="Aptos" pitchFamily="34" charset="-122"/>
                <a:cs typeface="Aptos" pitchFamily="34" charset="-120"/>
              </a:rPr>
              <a:t>MEDIA</a:t>
            </a:r>
            <a:endParaRPr lang="en-US" sz="1540" dirty="0"/>
          </a:p>
        </p:txBody>
      </p:sp>
      <p:sp>
        <p:nvSpPr>
          <p:cNvPr id="26" name="Text 24"/>
          <p:cNvSpPr/>
          <p:nvPr/>
        </p:nvSpPr>
        <p:spPr>
          <a:xfrm>
            <a:off x="8449056" y="4133088"/>
            <a:ext cx="3154680" cy="274320"/>
          </a:xfrm>
          <a:prstGeom prst="rect">
            <a:avLst/>
          </a:prstGeom>
          <a:noFill/>
          <a:ln/>
        </p:spPr>
        <p:txBody>
          <a:bodyPr wrap="square" lIns="0" tIns="0" rIns="0" bIns="0" rtlCol="0" anchor="ctr">
            <a:normAutofit/>
          </a:bodyPr>
          <a:lstStyle/>
          <a:p>
            <a:pPr algn="l" indent="0" marL="0">
              <a:buNone/>
            </a:pPr>
            <a:r>
              <a:rPr lang="en-US" sz="1600" dirty="0">
                <a:solidFill>
                  <a:srgbClr val="F7FAFF"/>
                </a:solidFill>
                <a:latin typeface="Aptos" pitchFamily="34" charset="0"/>
                <a:ea typeface="Aptos" pitchFamily="34" charset="-122"/>
                <a:cs typeface="Aptos" pitchFamily="34" charset="-120"/>
              </a:rPr>
              <a:t>Campaign activity</a:t>
            </a:r>
            <a:endParaRPr lang="en-US" sz="1600" dirty="0"/>
          </a:p>
        </p:txBody>
      </p:sp>
      <p:sp>
        <p:nvSpPr>
          <p:cNvPr id="27" name="Shape 25"/>
          <p:cNvSpPr/>
          <p:nvPr/>
        </p:nvSpPr>
        <p:spPr>
          <a:xfrm>
            <a:off x="658368" y="5166360"/>
            <a:ext cx="10936224" cy="768096"/>
          </a:xfrm>
          <a:prstGeom prst="roundRect">
            <a:avLst>
              <a:gd name="adj" fmla="val 19048"/>
            </a:avLst>
          </a:prstGeom>
          <a:solidFill>
            <a:srgbClr val="263B55"/>
          </a:solidFill>
          <a:ln w="12700">
            <a:solidFill>
              <a:srgbClr val="263B55"/>
            </a:solidFill>
            <a:prstDash val="solid"/>
          </a:ln>
        </p:spPr>
      </p:sp>
      <p:sp>
        <p:nvSpPr>
          <p:cNvPr id="28" name="Text 26"/>
          <p:cNvSpPr/>
          <p:nvPr/>
        </p:nvSpPr>
        <p:spPr>
          <a:xfrm>
            <a:off x="877824" y="5321808"/>
            <a:ext cx="10479024" cy="429768"/>
          </a:xfrm>
          <a:prstGeom prst="rect">
            <a:avLst/>
          </a:prstGeom>
          <a:noFill/>
          <a:ln/>
        </p:spPr>
        <p:txBody>
          <a:bodyPr wrap="square" lIns="0" tIns="0" rIns="0" bIns="0" rtlCol="0" anchor="ctr">
            <a:normAutofit/>
          </a:bodyPr>
          <a:lstStyle/>
          <a:p>
            <a:pPr algn="l" indent="0" marL="0">
              <a:buNone/>
            </a:pPr>
            <a:r>
              <a:rPr lang="en-US" sz="2000" b="1" dirty="0">
                <a:solidFill>
                  <a:srgbClr val="F7FAFF"/>
                </a:solidFill>
                <a:latin typeface="Aptos" pitchFamily="34" charset="0"/>
                <a:ea typeface="Aptos" pitchFamily="34" charset="-122"/>
                <a:cs typeface="Aptos" pitchFamily="34" charset="-120"/>
              </a:rPr>
              <a:t>The skill is not adding more variables. It is separating relevant drivers from noise.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05 · MMM IN PLAIN LANGUAGE</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What Marketing Mix Modeling does</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06</a:t>
            </a:r>
            <a:endParaRPr lang="en-US" sz="900" dirty="0"/>
          </a:p>
        </p:txBody>
      </p:sp>
      <p:sp>
        <p:nvSpPr>
          <p:cNvPr id="8" name="Text 6"/>
          <p:cNvSpPr/>
          <p:nvPr/>
        </p:nvSpPr>
        <p:spPr>
          <a:xfrm>
            <a:off x="694944" y="1453896"/>
            <a:ext cx="10607040" cy="530352"/>
          </a:xfrm>
          <a:prstGeom prst="rect">
            <a:avLst/>
          </a:prstGeom>
          <a:noFill/>
          <a:ln/>
        </p:spPr>
        <p:txBody>
          <a:bodyPr wrap="square" lIns="0" tIns="0" rIns="0" bIns="0" rtlCol="0" anchor="ctr">
            <a:normAutofit/>
          </a:bodyPr>
          <a:lstStyle/>
          <a:p>
            <a:pPr algn="l" indent="0" marL="0">
              <a:buNone/>
            </a:pPr>
            <a:r>
              <a:rPr lang="en-US" sz="2200" b="1" dirty="0">
                <a:solidFill>
                  <a:srgbClr val="48D5C3"/>
                </a:solidFill>
                <a:latin typeface="Aptos" pitchFamily="34" charset="0"/>
                <a:ea typeface="Aptos" pitchFamily="34" charset="-122"/>
                <a:cs typeface="Aptos" pitchFamily="34" charset="-120"/>
              </a:rPr>
              <a:t>MMM tries to separate sales or conversions into understandable drivers.</a:t>
            </a:r>
            <a:endParaRPr lang="en-US" sz="2200" dirty="0"/>
          </a:p>
        </p:txBody>
      </p:sp>
      <p:sp>
        <p:nvSpPr>
          <p:cNvPr id="9" name="Shape 7"/>
          <p:cNvSpPr/>
          <p:nvPr/>
        </p:nvSpPr>
        <p:spPr>
          <a:xfrm>
            <a:off x="640080" y="2432304"/>
            <a:ext cx="3602736" cy="2286000"/>
          </a:xfrm>
          <a:prstGeom prst="roundRect">
            <a:avLst>
              <a:gd name="adj" fmla="val 6400"/>
            </a:avLst>
          </a:prstGeom>
          <a:solidFill>
            <a:srgbClr val="1B2D47"/>
          </a:solidFill>
          <a:ln w="12700">
            <a:solidFill>
              <a:srgbClr val="1B2D47"/>
            </a:solidFill>
            <a:prstDash val="solid"/>
          </a:ln>
        </p:spPr>
      </p:sp>
      <p:sp>
        <p:nvSpPr>
          <p:cNvPr id="10" name="Shape 8"/>
          <p:cNvSpPr/>
          <p:nvPr/>
        </p:nvSpPr>
        <p:spPr>
          <a:xfrm>
            <a:off x="813816" y="2679192"/>
            <a:ext cx="3182112" cy="91440"/>
          </a:xfrm>
          <a:prstGeom prst="roundRect">
            <a:avLst>
              <a:gd name="adj" fmla="val 20000"/>
            </a:avLst>
          </a:prstGeom>
          <a:solidFill>
            <a:srgbClr val="75B6FF"/>
          </a:solidFill>
          <a:ln w="12700">
            <a:solidFill>
              <a:srgbClr val="75B6FF"/>
            </a:solidFill>
            <a:prstDash val="solid"/>
          </a:ln>
        </p:spPr>
      </p:sp>
      <p:sp>
        <p:nvSpPr>
          <p:cNvPr id="11" name="Text 9"/>
          <p:cNvSpPr/>
          <p:nvPr/>
        </p:nvSpPr>
        <p:spPr>
          <a:xfrm>
            <a:off x="822960" y="2971800"/>
            <a:ext cx="3172968"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BASELINE</a:t>
            </a:r>
            <a:endParaRPr lang="en-US" sz="1900" dirty="0"/>
          </a:p>
        </p:txBody>
      </p:sp>
      <p:sp>
        <p:nvSpPr>
          <p:cNvPr id="12" name="Text 10"/>
          <p:cNvSpPr/>
          <p:nvPr/>
        </p:nvSpPr>
        <p:spPr>
          <a:xfrm>
            <a:off x="822960" y="3575304"/>
            <a:ext cx="3182112" cy="813816"/>
          </a:xfrm>
          <a:prstGeom prst="rect">
            <a:avLst/>
          </a:prstGeom>
          <a:noFill/>
          <a:ln/>
        </p:spPr>
        <p:txBody>
          <a:bodyPr wrap="square" lIns="0" tIns="0" rIns="0" bIns="0" rtlCol="0" anchor="t">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What would likely happen without paid media</a:t>
            </a:r>
            <a:endParaRPr lang="en-US" sz="1600" dirty="0"/>
          </a:p>
        </p:txBody>
      </p:sp>
      <p:sp>
        <p:nvSpPr>
          <p:cNvPr id="13" name="Shape 11"/>
          <p:cNvSpPr/>
          <p:nvPr/>
        </p:nvSpPr>
        <p:spPr>
          <a:xfrm>
            <a:off x="4489704" y="2432304"/>
            <a:ext cx="3602736" cy="2286000"/>
          </a:xfrm>
          <a:prstGeom prst="roundRect">
            <a:avLst>
              <a:gd name="adj" fmla="val 6400"/>
            </a:avLst>
          </a:prstGeom>
          <a:solidFill>
            <a:srgbClr val="1B2D47"/>
          </a:solidFill>
          <a:ln w="12700">
            <a:solidFill>
              <a:srgbClr val="1B2D47"/>
            </a:solidFill>
            <a:prstDash val="solid"/>
          </a:ln>
        </p:spPr>
      </p:sp>
      <p:sp>
        <p:nvSpPr>
          <p:cNvPr id="14" name="Shape 12"/>
          <p:cNvSpPr/>
          <p:nvPr/>
        </p:nvSpPr>
        <p:spPr>
          <a:xfrm>
            <a:off x="4663440" y="2679192"/>
            <a:ext cx="3182112" cy="91440"/>
          </a:xfrm>
          <a:prstGeom prst="roundRect">
            <a:avLst>
              <a:gd name="adj" fmla="val 20000"/>
            </a:avLst>
          </a:prstGeom>
          <a:solidFill>
            <a:srgbClr val="48D5C3"/>
          </a:solidFill>
          <a:ln w="12700">
            <a:solidFill>
              <a:srgbClr val="48D5C3"/>
            </a:solidFill>
            <a:prstDash val="solid"/>
          </a:ln>
        </p:spPr>
      </p:sp>
      <p:sp>
        <p:nvSpPr>
          <p:cNvPr id="15" name="Text 13"/>
          <p:cNvSpPr/>
          <p:nvPr/>
        </p:nvSpPr>
        <p:spPr>
          <a:xfrm>
            <a:off x="4672584" y="2971800"/>
            <a:ext cx="3172968"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MARKETING</a:t>
            </a:r>
            <a:endParaRPr lang="en-US" sz="1900" dirty="0"/>
          </a:p>
        </p:txBody>
      </p:sp>
      <p:sp>
        <p:nvSpPr>
          <p:cNvPr id="16" name="Text 14"/>
          <p:cNvSpPr/>
          <p:nvPr/>
        </p:nvSpPr>
        <p:spPr>
          <a:xfrm>
            <a:off x="4672584" y="3575304"/>
            <a:ext cx="3182112" cy="813816"/>
          </a:xfrm>
          <a:prstGeom prst="rect">
            <a:avLst/>
          </a:prstGeom>
          <a:noFill/>
          <a:ln/>
        </p:spPr>
        <p:txBody>
          <a:bodyPr wrap="square" lIns="0" tIns="0" rIns="0" bIns="0" rtlCol="0" anchor="t">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Additional outcome attributed to campaigns</a:t>
            </a:r>
            <a:endParaRPr lang="en-US" sz="1600" dirty="0"/>
          </a:p>
        </p:txBody>
      </p:sp>
      <p:sp>
        <p:nvSpPr>
          <p:cNvPr id="17" name="Shape 15"/>
          <p:cNvSpPr/>
          <p:nvPr/>
        </p:nvSpPr>
        <p:spPr>
          <a:xfrm>
            <a:off x="8339328" y="2432304"/>
            <a:ext cx="3602736" cy="2286000"/>
          </a:xfrm>
          <a:prstGeom prst="roundRect">
            <a:avLst>
              <a:gd name="adj" fmla="val 6400"/>
            </a:avLst>
          </a:prstGeom>
          <a:solidFill>
            <a:srgbClr val="1B2D47"/>
          </a:solidFill>
          <a:ln w="12700">
            <a:solidFill>
              <a:srgbClr val="1B2D47"/>
            </a:solidFill>
            <a:prstDash val="solid"/>
          </a:ln>
        </p:spPr>
      </p:sp>
      <p:sp>
        <p:nvSpPr>
          <p:cNvPr id="18" name="Shape 16"/>
          <p:cNvSpPr/>
          <p:nvPr/>
        </p:nvSpPr>
        <p:spPr>
          <a:xfrm>
            <a:off x="8513064" y="2679192"/>
            <a:ext cx="3182112" cy="91440"/>
          </a:xfrm>
          <a:prstGeom prst="roundRect">
            <a:avLst>
              <a:gd name="adj" fmla="val 20000"/>
            </a:avLst>
          </a:prstGeom>
          <a:solidFill>
            <a:srgbClr val="F8C875"/>
          </a:solidFill>
          <a:ln w="12700">
            <a:solidFill>
              <a:srgbClr val="F8C875"/>
            </a:solidFill>
            <a:prstDash val="solid"/>
          </a:ln>
        </p:spPr>
      </p:sp>
      <p:sp>
        <p:nvSpPr>
          <p:cNvPr id="19" name="Text 17"/>
          <p:cNvSpPr/>
          <p:nvPr/>
        </p:nvSpPr>
        <p:spPr>
          <a:xfrm>
            <a:off x="8522208" y="2971800"/>
            <a:ext cx="3172968"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OTHER DRIVERS</a:t>
            </a:r>
            <a:endParaRPr lang="en-US" sz="1900" dirty="0"/>
          </a:p>
        </p:txBody>
      </p:sp>
      <p:sp>
        <p:nvSpPr>
          <p:cNvPr id="20" name="Text 18"/>
          <p:cNvSpPr/>
          <p:nvPr/>
        </p:nvSpPr>
        <p:spPr>
          <a:xfrm>
            <a:off x="8522208" y="3575304"/>
            <a:ext cx="3182112" cy="813816"/>
          </a:xfrm>
          <a:prstGeom prst="rect">
            <a:avLst/>
          </a:prstGeom>
          <a:noFill/>
          <a:ln/>
        </p:spPr>
        <p:txBody>
          <a:bodyPr wrap="square" lIns="0" tIns="0" rIns="0" bIns="0" rtlCol="0" anchor="t">
            <a:normAutofit/>
          </a:bodyPr>
          <a:lstStyle/>
          <a:p>
            <a:pPr algn="l" indent="0" marL="0">
              <a:buNone/>
            </a:pPr>
            <a:r>
              <a:rPr lang="en-US" sz="1600" dirty="0">
                <a:solidFill>
                  <a:srgbClr val="A8BAD0"/>
                </a:solidFill>
                <a:latin typeface="Aptos" pitchFamily="34" charset="0"/>
                <a:ea typeface="Aptos" pitchFamily="34" charset="-122"/>
                <a:cs typeface="Aptos" pitchFamily="34" charset="-120"/>
              </a:rPr>
              <a:t>Promotions, demand, holidays and more</a:t>
            </a:r>
            <a:endParaRPr lang="en-US" sz="1600" dirty="0"/>
          </a:p>
        </p:txBody>
      </p:sp>
      <p:sp>
        <p:nvSpPr>
          <p:cNvPr id="21" name="Text 19"/>
          <p:cNvSpPr/>
          <p:nvPr/>
        </p:nvSpPr>
        <p:spPr>
          <a:xfrm>
            <a:off x="704088" y="5248656"/>
            <a:ext cx="10789920" cy="530352"/>
          </a:xfrm>
          <a:prstGeom prst="rect">
            <a:avLst/>
          </a:prstGeom>
          <a:noFill/>
          <a:ln/>
        </p:spPr>
        <p:txBody>
          <a:bodyPr wrap="square" lIns="0" tIns="0" rIns="0" bIns="0" rtlCol="0" anchor="ctr">
            <a:normAutofit/>
          </a:bodyPr>
          <a:lstStyle/>
          <a:p>
            <a:pPr algn="l" indent="0" marL="0">
              <a:buNone/>
            </a:pPr>
            <a:r>
              <a:rPr lang="en-US" sz="2300" b="1" dirty="0">
                <a:solidFill>
                  <a:srgbClr val="F7FAFF"/>
                </a:solidFill>
                <a:latin typeface="Aptos" pitchFamily="34" charset="0"/>
                <a:ea typeface="Aptos" pitchFamily="34" charset="-122"/>
                <a:cs typeface="Aptos" pitchFamily="34" charset="-120"/>
              </a:rPr>
              <a:t>What do we get? Better budget questions — not a perfect crystal ball.</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06 · GOOGLE MERIDIAN EXAMPLE</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Practical implementation: let’s open JupyterLab</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07</a:t>
            </a:r>
            <a:endParaRPr lang="en-US" sz="900" dirty="0"/>
          </a:p>
        </p:txBody>
      </p:sp>
      <p:sp>
        <p:nvSpPr>
          <p:cNvPr id="8" name="Shape 6"/>
          <p:cNvSpPr/>
          <p:nvPr/>
        </p:nvSpPr>
        <p:spPr>
          <a:xfrm>
            <a:off x="694944" y="1499616"/>
            <a:ext cx="2935224" cy="338328"/>
          </a:xfrm>
          <a:prstGeom prst="roundRect">
            <a:avLst>
              <a:gd name="adj" fmla="val 54054"/>
            </a:avLst>
          </a:prstGeom>
          <a:solidFill>
            <a:srgbClr val="263B55"/>
          </a:solidFill>
          <a:ln w="12700">
            <a:solidFill>
              <a:srgbClr val="263B55"/>
            </a:solidFill>
            <a:prstDash val="solid"/>
          </a:ln>
        </p:spPr>
      </p:sp>
      <p:sp>
        <p:nvSpPr>
          <p:cNvPr id="9" name="Text 7"/>
          <p:cNvSpPr/>
          <p:nvPr/>
        </p:nvSpPr>
        <p:spPr>
          <a:xfrm>
            <a:off x="813816" y="1536192"/>
            <a:ext cx="2697480" cy="246888"/>
          </a:xfrm>
          <a:prstGeom prst="rect">
            <a:avLst/>
          </a:prstGeom>
          <a:noFill/>
          <a:ln/>
        </p:spPr>
        <p:txBody>
          <a:bodyPr wrap="square" lIns="0" tIns="0" rIns="0" bIns="0" rtlCol="0" anchor="ctr">
            <a:normAutofit/>
          </a:bodyPr>
          <a:lstStyle/>
          <a:p>
            <a:pPr algn="ctr" indent="0" marL="0">
              <a:buNone/>
            </a:pPr>
            <a:r>
              <a:rPr lang="en-US" sz="1050" b="1" spc="50" kern="0" dirty="0">
                <a:solidFill>
                  <a:srgbClr val="48D5C3"/>
                </a:solidFill>
                <a:latin typeface="Aptos" pitchFamily="34" charset="0"/>
                <a:ea typeface="Aptos" pitchFamily="34" charset="-122"/>
                <a:cs typeface="Aptos" pitchFamily="34" charset="-120"/>
              </a:rPr>
              <a:t>LIVE NOTEBOOK · 5–8 MINUTES</a:t>
            </a:r>
            <a:endParaRPr lang="en-US" sz="1050" dirty="0"/>
          </a:p>
        </p:txBody>
      </p:sp>
      <p:sp>
        <p:nvSpPr>
          <p:cNvPr id="10" name="Shape 8"/>
          <p:cNvSpPr/>
          <p:nvPr/>
        </p:nvSpPr>
        <p:spPr>
          <a:xfrm>
            <a:off x="694944" y="2048256"/>
            <a:ext cx="7104888" cy="3282696"/>
          </a:xfrm>
          <a:prstGeom prst="roundRect">
            <a:avLst>
              <a:gd name="adj" fmla="val 5571"/>
            </a:avLst>
          </a:prstGeom>
          <a:solidFill>
            <a:srgbClr val="1B2D47"/>
          </a:solidFill>
          <a:ln w="12700">
            <a:solidFill>
              <a:srgbClr val="1B2D47"/>
            </a:solidFill>
            <a:prstDash val="solid"/>
          </a:ln>
        </p:spPr>
      </p:sp>
      <p:sp>
        <p:nvSpPr>
          <p:cNvPr id="11" name="Shape 9"/>
          <p:cNvSpPr/>
          <p:nvPr/>
        </p:nvSpPr>
        <p:spPr>
          <a:xfrm>
            <a:off x="896112" y="2267712"/>
            <a:ext cx="6702552" cy="338328"/>
          </a:xfrm>
          <a:prstGeom prst="roundRect">
            <a:avLst>
              <a:gd name="adj" fmla="val 18919"/>
            </a:avLst>
          </a:prstGeom>
          <a:solidFill>
            <a:srgbClr val="263B55"/>
          </a:solidFill>
          <a:ln w="12700">
            <a:solidFill>
              <a:srgbClr val="263B55"/>
            </a:solidFill>
            <a:prstDash val="solid"/>
          </a:ln>
        </p:spPr>
      </p:sp>
      <p:sp>
        <p:nvSpPr>
          <p:cNvPr id="12" name="Shape 10"/>
          <p:cNvSpPr/>
          <p:nvPr/>
        </p:nvSpPr>
        <p:spPr>
          <a:xfrm>
            <a:off x="1069848" y="2377440"/>
            <a:ext cx="91440" cy="91440"/>
          </a:xfrm>
          <a:prstGeom prst="ellipse">
            <a:avLst/>
          </a:prstGeom>
          <a:solidFill>
            <a:srgbClr val="FD9CA4"/>
          </a:solidFill>
          <a:ln w="12700">
            <a:solidFill>
              <a:srgbClr val="FD9CA4"/>
            </a:solidFill>
            <a:prstDash val="solid"/>
          </a:ln>
        </p:spPr>
      </p:sp>
      <p:sp>
        <p:nvSpPr>
          <p:cNvPr id="13" name="Shape 11"/>
          <p:cNvSpPr/>
          <p:nvPr/>
        </p:nvSpPr>
        <p:spPr>
          <a:xfrm>
            <a:off x="1243584" y="2377440"/>
            <a:ext cx="91440" cy="91440"/>
          </a:xfrm>
          <a:prstGeom prst="ellipse">
            <a:avLst/>
          </a:prstGeom>
          <a:solidFill>
            <a:srgbClr val="F8C875"/>
          </a:solidFill>
          <a:ln w="12700">
            <a:solidFill>
              <a:srgbClr val="F8C875"/>
            </a:solidFill>
            <a:prstDash val="solid"/>
          </a:ln>
        </p:spPr>
      </p:sp>
      <p:sp>
        <p:nvSpPr>
          <p:cNvPr id="14" name="Shape 12"/>
          <p:cNvSpPr/>
          <p:nvPr/>
        </p:nvSpPr>
        <p:spPr>
          <a:xfrm>
            <a:off x="1417320" y="2377440"/>
            <a:ext cx="91440" cy="91440"/>
          </a:xfrm>
          <a:prstGeom prst="ellipse">
            <a:avLst/>
          </a:prstGeom>
          <a:solidFill>
            <a:srgbClr val="48D5C3"/>
          </a:solidFill>
          <a:ln w="12700">
            <a:solidFill>
              <a:srgbClr val="48D5C3"/>
            </a:solidFill>
            <a:prstDash val="solid"/>
          </a:ln>
        </p:spPr>
      </p:sp>
      <p:sp>
        <p:nvSpPr>
          <p:cNvPr id="15" name="Text 13"/>
          <p:cNvSpPr/>
          <p:nvPr/>
        </p:nvSpPr>
        <p:spPr>
          <a:xfrm>
            <a:off x="1033272" y="2825496"/>
            <a:ext cx="6355080" cy="374904"/>
          </a:xfrm>
          <a:prstGeom prst="rect">
            <a:avLst/>
          </a:prstGeom>
          <a:noFill/>
          <a:ln/>
        </p:spPr>
        <p:txBody>
          <a:bodyPr wrap="square" lIns="0" tIns="0" rIns="0" bIns="0" rtlCol="0" anchor="ctr">
            <a:normAutofit/>
          </a:bodyPr>
          <a:lstStyle/>
          <a:p>
            <a:pPr algn="l" indent="0" marL="0">
              <a:buNone/>
            </a:pPr>
            <a:r>
              <a:rPr lang="en-US" sz="1800" dirty="0">
                <a:solidFill>
                  <a:srgbClr val="F7FAFF"/>
                </a:solidFill>
                <a:latin typeface="Aptos" pitchFamily="34" charset="0"/>
                <a:ea typeface="Aptos" pitchFamily="34" charset="-122"/>
                <a:cs typeface="Aptos" pitchFamily="34" charset="-120"/>
              </a:rPr>
              <a:t>01  Synthetic data: Search · Meta · YouTube</a:t>
            </a:r>
            <a:endParaRPr lang="en-US" sz="1800" dirty="0"/>
          </a:p>
        </p:txBody>
      </p:sp>
      <p:sp>
        <p:nvSpPr>
          <p:cNvPr id="16" name="Text 14"/>
          <p:cNvSpPr/>
          <p:nvPr/>
        </p:nvSpPr>
        <p:spPr>
          <a:xfrm>
            <a:off x="1033272" y="3429000"/>
            <a:ext cx="6355080" cy="374904"/>
          </a:xfrm>
          <a:prstGeom prst="rect">
            <a:avLst/>
          </a:prstGeom>
          <a:noFill/>
          <a:ln/>
        </p:spPr>
        <p:txBody>
          <a:bodyPr wrap="square" lIns="0" tIns="0" rIns="0" bIns="0" rtlCol="0" anchor="ctr">
            <a:normAutofit/>
          </a:bodyPr>
          <a:lstStyle/>
          <a:p>
            <a:pPr algn="l" indent="0" marL="0">
              <a:buNone/>
            </a:pPr>
            <a:r>
              <a:rPr lang="en-US" sz="1800" dirty="0">
                <a:solidFill>
                  <a:srgbClr val="F7FAFF"/>
                </a:solidFill>
                <a:latin typeface="Aptos" pitchFamily="34" charset="0"/>
                <a:ea typeface="Aptos" pitchFamily="34" charset="-122"/>
                <a:cs typeface="Aptos" pitchFamily="34" charset="-120"/>
              </a:rPr>
              <a:t>02  Estimated channel contributions</a:t>
            </a:r>
            <a:endParaRPr lang="en-US" sz="1800" dirty="0"/>
          </a:p>
        </p:txBody>
      </p:sp>
      <p:sp>
        <p:nvSpPr>
          <p:cNvPr id="17" name="Text 15"/>
          <p:cNvSpPr/>
          <p:nvPr/>
        </p:nvSpPr>
        <p:spPr>
          <a:xfrm>
            <a:off x="1033272" y="4032504"/>
            <a:ext cx="6355080" cy="374904"/>
          </a:xfrm>
          <a:prstGeom prst="rect">
            <a:avLst/>
          </a:prstGeom>
          <a:noFill/>
          <a:ln/>
        </p:spPr>
        <p:txBody>
          <a:bodyPr wrap="square" lIns="0" tIns="0" rIns="0" bIns="0" rtlCol="0" anchor="ctr">
            <a:normAutofit/>
          </a:bodyPr>
          <a:lstStyle/>
          <a:p>
            <a:pPr algn="l" indent="0" marL="0">
              <a:buNone/>
            </a:pPr>
            <a:r>
              <a:rPr lang="en-US" sz="1800" dirty="0">
                <a:solidFill>
                  <a:srgbClr val="F7FAFF"/>
                </a:solidFill>
                <a:latin typeface="Aptos" pitchFamily="34" charset="0"/>
                <a:ea typeface="Aptos" pitchFamily="34" charset="-122"/>
                <a:cs typeface="Aptos" pitchFamily="34" charset="-120"/>
              </a:rPr>
              <a:t>03  Response curves and diminishing returns</a:t>
            </a:r>
            <a:endParaRPr lang="en-US" sz="1800" dirty="0"/>
          </a:p>
        </p:txBody>
      </p:sp>
      <p:sp>
        <p:nvSpPr>
          <p:cNvPr id="18" name="Text 16"/>
          <p:cNvSpPr/>
          <p:nvPr/>
        </p:nvSpPr>
        <p:spPr>
          <a:xfrm>
            <a:off x="1033272" y="4636008"/>
            <a:ext cx="6355080" cy="374904"/>
          </a:xfrm>
          <a:prstGeom prst="rect">
            <a:avLst/>
          </a:prstGeom>
          <a:noFill/>
          <a:ln/>
        </p:spPr>
        <p:txBody>
          <a:bodyPr wrap="square" lIns="0" tIns="0" rIns="0" bIns="0" rtlCol="0" anchor="ctr">
            <a:normAutofit/>
          </a:bodyPr>
          <a:lstStyle/>
          <a:p>
            <a:pPr algn="l" indent="0" marL="0">
              <a:buNone/>
            </a:pPr>
            <a:r>
              <a:rPr lang="en-US" sz="1800" b="1" dirty="0">
                <a:solidFill>
                  <a:srgbClr val="48D5C3"/>
                </a:solidFill>
                <a:latin typeface="Aptos" pitchFamily="34" charset="0"/>
                <a:ea typeface="Aptos" pitchFamily="34" charset="-122"/>
                <a:cs typeface="Aptos" pitchFamily="34" charset="-120"/>
              </a:rPr>
              <a:t>04  Change spend → compare incremental revenue</a:t>
            </a:r>
            <a:endParaRPr lang="en-US" sz="1800" dirty="0"/>
          </a:p>
        </p:txBody>
      </p:sp>
      <p:sp>
        <p:nvSpPr>
          <p:cNvPr id="19" name="Shape 17"/>
          <p:cNvSpPr/>
          <p:nvPr/>
        </p:nvSpPr>
        <p:spPr>
          <a:xfrm>
            <a:off x="8065008" y="2039112"/>
            <a:ext cx="3392424" cy="3291840"/>
          </a:xfrm>
          <a:prstGeom prst="roundRect">
            <a:avLst>
              <a:gd name="adj" fmla="val 5556"/>
            </a:avLst>
          </a:prstGeom>
          <a:solidFill>
            <a:srgbClr val="263B55"/>
          </a:solidFill>
          <a:ln w="12700">
            <a:solidFill>
              <a:srgbClr val="263B55"/>
            </a:solidFill>
            <a:prstDash val="solid"/>
          </a:ln>
        </p:spPr>
      </p:sp>
      <p:sp>
        <p:nvSpPr>
          <p:cNvPr id="20" name="Text 18"/>
          <p:cNvSpPr/>
          <p:nvPr/>
        </p:nvSpPr>
        <p:spPr>
          <a:xfrm>
            <a:off x="8293608" y="2368296"/>
            <a:ext cx="2825496" cy="374904"/>
          </a:xfrm>
          <a:prstGeom prst="rect">
            <a:avLst/>
          </a:prstGeom>
          <a:noFill/>
          <a:ln/>
        </p:spPr>
        <p:txBody>
          <a:bodyPr wrap="square" lIns="0" tIns="0" rIns="0" bIns="0" rtlCol="0" anchor="ctr">
            <a:normAutofit/>
          </a:bodyPr>
          <a:lstStyle/>
          <a:p>
            <a:pPr algn="l" indent="0" marL="0">
              <a:buNone/>
            </a:pPr>
            <a:r>
              <a:rPr lang="en-US" sz="1900" b="1" dirty="0">
                <a:solidFill>
                  <a:srgbClr val="F8C875"/>
                </a:solidFill>
                <a:latin typeface="Aptos" pitchFamily="34" charset="0"/>
                <a:ea typeface="Aptos" pitchFamily="34" charset="-122"/>
                <a:cs typeface="Aptos" pitchFamily="34" charset="-120"/>
              </a:rPr>
              <a:t>Ask the students</a:t>
            </a:r>
            <a:endParaRPr lang="en-US" sz="1900" dirty="0"/>
          </a:p>
        </p:txBody>
      </p:sp>
      <p:sp>
        <p:nvSpPr>
          <p:cNvPr id="21" name="Text 19"/>
          <p:cNvSpPr/>
          <p:nvPr/>
        </p:nvSpPr>
        <p:spPr>
          <a:xfrm>
            <a:off x="8293608" y="2980944"/>
            <a:ext cx="2788920" cy="1636776"/>
          </a:xfrm>
          <a:prstGeom prst="rect">
            <a:avLst/>
          </a:prstGeom>
          <a:noFill/>
          <a:ln/>
        </p:spPr>
        <p:txBody>
          <a:bodyPr wrap="square" lIns="0" tIns="0" rIns="0" bIns="0" rtlCol="0" anchor="ctr">
            <a:normAutofit/>
          </a:bodyPr>
          <a:lstStyle/>
          <a:p>
            <a:pPr algn="l" indent="0" marL="0">
              <a:buNone/>
            </a:pPr>
            <a:r>
              <a:rPr lang="en-US" sz="2100" b="1" dirty="0">
                <a:solidFill>
                  <a:srgbClr val="F7FAFF"/>
                </a:solidFill>
                <a:latin typeface="Aptos" pitchFamily="34" charset="0"/>
                <a:ea typeface="Aptos" pitchFamily="34" charset="-122"/>
                <a:cs typeface="Aptos" pitchFamily="34" charset="-120"/>
              </a:rPr>
              <a:t>If I increase</a:t>
            </a:r>
            <a:endParaRPr lang="en-US" sz="2100" dirty="0"/>
          </a:p>
          <a:p>
            <a:pPr algn="l" indent="0" marL="0">
              <a:buNone/>
            </a:pPr>
            <a:r>
              <a:rPr lang="en-US" sz="2100" b="1" dirty="0">
                <a:solidFill>
                  <a:srgbClr val="F7FAFF"/>
                </a:solidFill>
                <a:latin typeface="Aptos" pitchFamily="34" charset="0"/>
                <a:ea typeface="Aptos" pitchFamily="34" charset="-122"/>
                <a:cs typeface="Aptos" pitchFamily="34" charset="-120"/>
              </a:rPr>
              <a:t>YouTube spend by 20%,</a:t>
            </a:r>
            <a:endParaRPr lang="en-US" sz="2100" dirty="0"/>
          </a:p>
          <a:p>
            <a:pPr algn="l" indent="0" marL="0">
              <a:buNone/>
            </a:pPr>
            <a:r>
              <a:rPr lang="en-US" sz="2100" b="1" dirty="0">
                <a:solidFill>
                  <a:srgbClr val="F7FAFF"/>
                </a:solidFill>
                <a:latin typeface="Aptos" pitchFamily="34" charset="0"/>
                <a:ea typeface="Aptos" pitchFamily="34" charset="-122"/>
                <a:cs typeface="Aptos" pitchFamily="34" charset="-120"/>
              </a:rPr>
              <a:t>will revenue rise</a:t>
            </a:r>
            <a:endParaRPr lang="en-US" sz="2100" dirty="0"/>
          </a:p>
          <a:p>
            <a:pPr algn="l" indent="0" marL="0">
              <a:buNone/>
            </a:pPr>
            <a:r>
              <a:rPr lang="en-US" sz="2100" b="1" dirty="0">
                <a:solidFill>
                  <a:srgbClr val="F7FAFF"/>
                </a:solidFill>
                <a:latin typeface="Aptos" pitchFamily="34" charset="0"/>
                <a:ea typeface="Aptos" pitchFamily="34" charset="-122"/>
                <a:cs typeface="Aptos" pitchFamily="34" charset="-120"/>
              </a:rPr>
              <a:t>by 20%?</a:t>
            </a:r>
            <a:endParaRPr lang="en-US" sz="2100" dirty="0"/>
          </a:p>
        </p:txBody>
      </p:sp>
      <p:sp>
        <p:nvSpPr>
          <p:cNvPr id="22" name="Text 20"/>
          <p:cNvSpPr/>
          <p:nvPr/>
        </p:nvSpPr>
        <p:spPr>
          <a:xfrm>
            <a:off x="722376" y="5797296"/>
            <a:ext cx="10607040" cy="402336"/>
          </a:xfrm>
          <a:prstGeom prst="rect">
            <a:avLst/>
          </a:prstGeom>
          <a:noFill/>
          <a:ln/>
        </p:spPr>
        <p:txBody>
          <a:bodyPr wrap="square" lIns="0" tIns="0" rIns="0" bIns="0" rtlCol="0" anchor="ctr">
            <a:normAutofit/>
          </a:bodyPr>
          <a:lstStyle/>
          <a:p>
            <a:pPr algn="l" indent="0" marL="0">
              <a:buNone/>
            </a:pPr>
            <a:r>
              <a:rPr lang="en-US" sz="2100" b="1" dirty="0">
                <a:solidFill>
                  <a:srgbClr val="48D5C3"/>
                </a:solidFill>
                <a:latin typeface="Aptos" pitchFamily="34" charset="0"/>
                <a:ea typeface="Aptos" pitchFamily="34" charset="-122"/>
                <a:cs typeface="Aptos" pitchFamily="34" charset="-120"/>
              </a:rPr>
              <a:t>Show, don’t derive.</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07 · FREQUENTIST VS BAYESIAN</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Two ways to model uncertainty</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08</a:t>
            </a:r>
            <a:endParaRPr lang="en-US" sz="900" dirty="0"/>
          </a:p>
        </p:txBody>
      </p:sp>
      <p:sp>
        <p:nvSpPr>
          <p:cNvPr id="8" name="Shape 6"/>
          <p:cNvSpPr/>
          <p:nvPr/>
        </p:nvSpPr>
        <p:spPr>
          <a:xfrm>
            <a:off x="649224" y="1545336"/>
            <a:ext cx="5294376" cy="3163824"/>
          </a:xfrm>
          <a:prstGeom prst="roundRect">
            <a:avLst>
              <a:gd name="adj" fmla="val 4913"/>
            </a:avLst>
          </a:prstGeom>
          <a:solidFill>
            <a:srgbClr val="1B2D47"/>
          </a:solidFill>
          <a:ln w="12700">
            <a:solidFill>
              <a:srgbClr val="1B2D47"/>
            </a:solidFill>
            <a:prstDash val="solid"/>
          </a:ln>
        </p:spPr>
      </p:sp>
      <p:sp>
        <p:nvSpPr>
          <p:cNvPr id="9" name="Shape 7"/>
          <p:cNvSpPr/>
          <p:nvPr/>
        </p:nvSpPr>
        <p:spPr>
          <a:xfrm>
            <a:off x="649224" y="1545336"/>
            <a:ext cx="54864" cy="3163824"/>
          </a:xfrm>
          <a:prstGeom prst="rect">
            <a:avLst/>
          </a:prstGeom>
          <a:solidFill>
            <a:srgbClr val="75B6FF"/>
          </a:solidFill>
          <a:ln w="12700">
            <a:solidFill>
              <a:srgbClr val="75B6FF"/>
            </a:solidFill>
            <a:prstDash val="solid"/>
          </a:ln>
        </p:spPr>
      </p:sp>
      <p:sp>
        <p:nvSpPr>
          <p:cNvPr id="10" name="Text 8"/>
          <p:cNvSpPr/>
          <p:nvPr/>
        </p:nvSpPr>
        <p:spPr>
          <a:xfrm>
            <a:off x="850392" y="1709928"/>
            <a:ext cx="4892040"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Frequentist</a:t>
            </a:r>
            <a:endParaRPr lang="en-US" sz="1900" dirty="0"/>
          </a:p>
        </p:txBody>
      </p:sp>
      <p:sp>
        <p:nvSpPr>
          <p:cNvPr id="11" name="Text 9"/>
          <p:cNvSpPr/>
          <p:nvPr/>
        </p:nvSpPr>
        <p:spPr>
          <a:xfrm>
            <a:off x="850392" y="2249424"/>
            <a:ext cx="4892040" cy="2286000"/>
          </a:xfrm>
          <a:prstGeom prst="rect">
            <a:avLst/>
          </a:prstGeom>
          <a:noFill/>
          <a:ln/>
        </p:spPr>
        <p:txBody>
          <a:bodyPr wrap="square" lIns="0" tIns="0" rIns="0" bIns="0" rtlCol="0" anchor="t">
            <a:normAutofit/>
          </a:bodyPr>
          <a:lstStyle/>
          <a:p>
            <a:pPr algn="l" indent="0" marL="0">
              <a:buNone/>
            </a:pPr>
            <a:r>
              <a:rPr lang="en-US" sz="1550" dirty="0">
                <a:solidFill>
                  <a:srgbClr val="A8BAD0"/>
                </a:solidFill>
                <a:latin typeface="Aptos" pitchFamily="34" charset="0"/>
                <a:ea typeface="Aptos" pitchFamily="34" charset="-122"/>
                <a:cs typeface="Aptos" pitchFamily="34" charset="-120"/>
              </a:rPr>
              <a:t>Estimate effects from data using a fixed model. Often fast and straightforward; uncertainty is interpreted through repeated-sampling procedures.</a:t>
            </a:r>
            <a:endParaRPr lang="en-US" sz="1550" dirty="0"/>
          </a:p>
        </p:txBody>
      </p:sp>
      <p:sp>
        <p:nvSpPr>
          <p:cNvPr id="12" name="Shape 10"/>
          <p:cNvSpPr/>
          <p:nvPr/>
        </p:nvSpPr>
        <p:spPr>
          <a:xfrm>
            <a:off x="6245352" y="1545336"/>
            <a:ext cx="5294376" cy="3163824"/>
          </a:xfrm>
          <a:prstGeom prst="roundRect">
            <a:avLst>
              <a:gd name="adj" fmla="val 4913"/>
            </a:avLst>
          </a:prstGeom>
          <a:solidFill>
            <a:srgbClr val="1B2D47"/>
          </a:solidFill>
          <a:ln w="12700">
            <a:solidFill>
              <a:srgbClr val="1B2D47"/>
            </a:solidFill>
            <a:prstDash val="solid"/>
          </a:ln>
        </p:spPr>
      </p:sp>
      <p:sp>
        <p:nvSpPr>
          <p:cNvPr id="13" name="Shape 11"/>
          <p:cNvSpPr/>
          <p:nvPr/>
        </p:nvSpPr>
        <p:spPr>
          <a:xfrm>
            <a:off x="6245352" y="1545336"/>
            <a:ext cx="54864" cy="3163824"/>
          </a:xfrm>
          <a:prstGeom prst="rect">
            <a:avLst/>
          </a:prstGeom>
          <a:solidFill>
            <a:srgbClr val="48D5C3"/>
          </a:solidFill>
          <a:ln w="12700">
            <a:solidFill>
              <a:srgbClr val="48D5C3"/>
            </a:solidFill>
            <a:prstDash val="solid"/>
          </a:ln>
        </p:spPr>
      </p:sp>
      <p:sp>
        <p:nvSpPr>
          <p:cNvPr id="14" name="Text 12"/>
          <p:cNvSpPr/>
          <p:nvPr/>
        </p:nvSpPr>
        <p:spPr>
          <a:xfrm>
            <a:off x="6446520" y="1709928"/>
            <a:ext cx="4892040" cy="384048"/>
          </a:xfrm>
          <a:prstGeom prst="rect">
            <a:avLst/>
          </a:prstGeom>
          <a:noFill/>
          <a:ln/>
        </p:spPr>
        <p:txBody>
          <a:bodyPr wrap="square" lIns="0" tIns="0" rIns="0" bIns="0" rtlCol="0" anchor="ctr">
            <a:normAutofit/>
          </a:bodyPr>
          <a:lstStyle/>
          <a:p>
            <a:pPr algn="l" indent="0" marL="0">
              <a:buNone/>
            </a:pPr>
            <a:r>
              <a:rPr lang="en-US" sz="1900" b="1" dirty="0">
                <a:solidFill>
                  <a:srgbClr val="F7FAFF"/>
                </a:solidFill>
                <a:latin typeface="Aptos" pitchFamily="34" charset="0"/>
                <a:ea typeface="Aptos" pitchFamily="34" charset="-122"/>
                <a:cs typeface="Aptos" pitchFamily="34" charset="-120"/>
              </a:rPr>
              <a:t>Bayesian</a:t>
            </a:r>
            <a:endParaRPr lang="en-US" sz="1900" dirty="0"/>
          </a:p>
        </p:txBody>
      </p:sp>
      <p:sp>
        <p:nvSpPr>
          <p:cNvPr id="15" name="Text 13"/>
          <p:cNvSpPr/>
          <p:nvPr/>
        </p:nvSpPr>
        <p:spPr>
          <a:xfrm>
            <a:off x="6446520" y="2249424"/>
            <a:ext cx="4892040" cy="2286000"/>
          </a:xfrm>
          <a:prstGeom prst="rect">
            <a:avLst/>
          </a:prstGeom>
          <a:noFill/>
          <a:ln/>
        </p:spPr>
        <p:txBody>
          <a:bodyPr wrap="square" lIns="0" tIns="0" rIns="0" bIns="0" rtlCol="0" anchor="t">
            <a:normAutofit/>
          </a:bodyPr>
          <a:lstStyle/>
          <a:p>
            <a:pPr algn="l" indent="0" marL="0">
              <a:buNone/>
            </a:pPr>
            <a:r>
              <a:rPr lang="en-US" sz="1550" dirty="0">
                <a:solidFill>
                  <a:srgbClr val="A8BAD0"/>
                </a:solidFill>
                <a:latin typeface="Aptos" pitchFamily="34" charset="0"/>
                <a:ea typeface="Aptos" pitchFamily="34" charset="-122"/>
                <a:cs typeface="Aptos" pitchFamily="34" charset="-120"/>
              </a:rPr>
              <a:t>Combine the observed data with explicit prior assumptions. Report distributions over plausible effects and support probability-based decisions.</a:t>
            </a:r>
            <a:endParaRPr lang="en-US" sz="1550" dirty="0"/>
          </a:p>
        </p:txBody>
      </p:sp>
      <p:sp>
        <p:nvSpPr>
          <p:cNvPr id="16" name="Shape 14"/>
          <p:cNvSpPr/>
          <p:nvPr/>
        </p:nvSpPr>
        <p:spPr>
          <a:xfrm>
            <a:off x="676656" y="5093208"/>
            <a:ext cx="10872216" cy="877824"/>
          </a:xfrm>
          <a:prstGeom prst="roundRect">
            <a:avLst>
              <a:gd name="adj" fmla="val 16667"/>
            </a:avLst>
          </a:prstGeom>
          <a:solidFill>
            <a:srgbClr val="263B55"/>
          </a:solidFill>
          <a:ln w="12700">
            <a:solidFill>
              <a:srgbClr val="263B55"/>
            </a:solidFill>
            <a:prstDash val="solid"/>
          </a:ln>
        </p:spPr>
      </p:sp>
      <p:sp>
        <p:nvSpPr>
          <p:cNvPr id="17" name="Text 15"/>
          <p:cNvSpPr/>
          <p:nvPr/>
        </p:nvSpPr>
        <p:spPr>
          <a:xfrm>
            <a:off x="896112" y="5230368"/>
            <a:ext cx="2770632" cy="310896"/>
          </a:xfrm>
          <a:prstGeom prst="rect">
            <a:avLst/>
          </a:prstGeom>
          <a:noFill/>
          <a:ln/>
        </p:spPr>
        <p:txBody>
          <a:bodyPr wrap="square" lIns="0" tIns="0" rIns="0" bIns="0" rtlCol="0" anchor="ctr">
            <a:normAutofit/>
          </a:bodyPr>
          <a:lstStyle/>
          <a:p>
            <a:pPr algn="l" indent="0" marL="0">
              <a:buNone/>
            </a:pPr>
            <a:r>
              <a:rPr lang="en-US" sz="1800" b="1" dirty="0">
                <a:solidFill>
                  <a:srgbClr val="F8C875"/>
                </a:solidFill>
                <a:latin typeface="Aptos" pitchFamily="34" charset="0"/>
                <a:ea typeface="Aptos" pitchFamily="34" charset="-122"/>
                <a:cs typeface="Aptos" pitchFamily="34" charset="-120"/>
              </a:rPr>
              <a:t>Why Meridian today?</a:t>
            </a:r>
            <a:endParaRPr lang="en-US" sz="1800" dirty="0"/>
          </a:p>
        </p:txBody>
      </p:sp>
      <p:sp>
        <p:nvSpPr>
          <p:cNvPr id="18" name="Text 16"/>
          <p:cNvSpPr/>
          <p:nvPr/>
        </p:nvSpPr>
        <p:spPr>
          <a:xfrm>
            <a:off x="3547872" y="5184648"/>
            <a:ext cx="7671816" cy="493776"/>
          </a:xfrm>
          <a:prstGeom prst="rect">
            <a:avLst/>
          </a:prstGeom>
          <a:noFill/>
          <a:ln/>
        </p:spPr>
        <p:txBody>
          <a:bodyPr wrap="square" lIns="0" tIns="0" rIns="0" bIns="0" rtlCol="0" anchor="ctr">
            <a:normAutofit/>
          </a:bodyPr>
          <a:lstStyle/>
          <a:p>
            <a:pPr algn="l" indent="0" marL="0">
              <a:buNone/>
            </a:pPr>
            <a:r>
              <a:rPr lang="en-US" sz="1700" b="1" dirty="0">
                <a:solidFill>
                  <a:srgbClr val="F7FAFF"/>
                </a:solidFill>
                <a:latin typeface="Aptos" pitchFamily="34" charset="0"/>
                <a:ea typeface="Aptos" pitchFamily="34" charset="-122"/>
                <a:cs typeface="Aptos" pitchFamily="34" charset="-120"/>
              </a:rPr>
              <a:t>Useful prior evidence + decision uncertainty + timely tool for new graduates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08 · THE NEXT WAVE OF MARKETING</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What changes when AI becomes part of the customer journey?</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09</a:t>
            </a:r>
            <a:endParaRPr lang="en-US" sz="900" dirty="0"/>
          </a:p>
        </p:txBody>
      </p:sp>
      <p:sp>
        <p:nvSpPr>
          <p:cNvPr id="8" name="Shape 6"/>
          <p:cNvSpPr/>
          <p:nvPr/>
        </p:nvSpPr>
        <p:spPr>
          <a:xfrm>
            <a:off x="658368" y="1636776"/>
            <a:ext cx="5330952" cy="1636776"/>
          </a:xfrm>
          <a:prstGeom prst="roundRect">
            <a:avLst>
              <a:gd name="adj" fmla="val 9497"/>
            </a:avLst>
          </a:prstGeom>
          <a:solidFill>
            <a:srgbClr val="1B2D47"/>
          </a:solidFill>
          <a:ln w="12700">
            <a:solidFill>
              <a:srgbClr val="1B2D47"/>
            </a:solidFill>
            <a:prstDash val="solid"/>
          </a:ln>
        </p:spPr>
      </p:sp>
      <p:sp>
        <p:nvSpPr>
          <p:cNvPr id="9" name="Text 7"/>
          <p:cNvSpPr/>
          <p:nvPr/>
        </p:nvSpPr>
        <p:spPr>
          <a:xfrm>
            <a:off x="859536" y="1837944"/>
            <a:ext cx="4882896" cy="320040"/>
          </a:xfrm>
          <a:prstGeom prst="rect">
            <a:avLst/>
          </a:prstGeom>
          <a:noFill/>
          <a:ln/>
        </p:spPr>
        <p:txBody>
          <a:bodyPr wrap="square" lIns="0" tIns="0" rIns="0" bIns="0" rtlCol="0" anchor="ctr">
            <a:normAutofit/>
          </a:bodyPr>
          <a:lstStyle/>
          <a:p>
            <a:pPr algn="l" indent="0" marL="0">
              <a:buNone/>
            </a:pPr>
            <a:r>
              <a:rPr lang="en-US" sz="1600" b="1" dirty="0">
                <a:solidFill>
                  <a:srgbClr val="48D5C3"/>
                </a:solidFill>
                <a:latin typeface="Aptos" pitchFamily="34" charset="0"/>
                <a:ea typeface="Aptos" pitchFamily="34" charset="-122"/>
                <a:cs typeface="Aptos" pitchFamily="34" charset="-120"/>
              </a:rPr>
              <a:t>AI-GENERATED OFFERS</a:t>
            </a:r>
            <a:endParaRPr lang="en-US" sz="1600" dirty="0"/>
          </a:p>
        </p:txBody>
      </p:sp>
      <p:sp>
        <p:nvSpPr>
          <p:cNvPr id="10" name="Text 8"/>
          <p:cNvSpPr/>
          <p:nvPr/>
        </p:nvSpPr>
        <p:spPr>
          <a:xfrm>
            <a:off x="859536" y="2377440"/>
            <a:ext cx="4846320" cy="667512"/>
          </a:xfrm>
          <a:prstGeom prst="rect">
            <a:avLst/>
          </a:prstGeom>
          <a:noFill/>
          <a:ln/>
        </p:spPr>
        <p:txBody>
          <a:bodyPr wrap="square" lIns="0" tIns="0" rIns="0" bIns="0" rtlCol="0" anchor="ctr">
            <a:normAutofit/>
          </a:bodyPr>
          <a:lstStyle/>
          <a:p>
            <a:pPr algn="l" indent="0" marL="0">
              <a:buNone/>
            </a:pPr>
            <a:r>
              <a:rPr lang="en-US" sz="1750" dirty="0">
                <a:solidFill>
                  <a:srgbClr val="F7FAFF"/>
                </a:solidFill>
                <a:latin typeface="Aptos" pitchFamily="34" charset="0"/>
                <a:ea typeface="Aptos" pitchFamily="34" charset="-122"/>
                <a:cs typeface="Aptos" pitchFamily="34" charset="-120"/>
              </a:rPr>
              <a:t>Personalized recommendations and dynamic content</a:t>
            </a:r>
            <a:endParaRPr lang="en-US" sz="1750" dirty="0"/>
          </a:p>
        </p:txBody>
      </p:sp>
      <p:sp>
        <p:nvSpPr>
          <p:cNvPr id="11" name="Shape 9"/>
          <p:cNvSpPr/>
          <p:nvPr/>
        </p:nvSpPr>
        <p:spPr>
          <a:xfrm>
            <a:off x="6291072" y="1636776"/>
            <a:ext cx="5330952" cy="1636776"/>
          </a:xfrm>
          <a:prstGeom prst="roundRect">
            <a:avLst>
              <a:gd name="adj" fmla="val 9497"/>
            </a:avLst>
          </a:prstGeom>
          <a:solidFill>
            <a:srgbClr val="1B2D47"/>
          </a:solidFill>
          <a:ln w="12700">
            <a:solidFill>
              <a:srgbClr val="1B2D47"/>
            </a:solidFill>
            <a:prstDash val="solid"/>
          </a:ln>
        </p:spPr>
      </p:sp>
      <p:sp>
        <p:nvSpPr>
          <p:cNvPr id="12" name="Text 10"/>
          <p:cNvSpPr/>
          <p:nvPr/>
        </p:nvSpPr>
        <p:spPr>
          <a:xfrm>
            <a:off x="6492240" y="1837944"/>
            <a:ext cx="4882896" cy="320040"/>
          </a:xfrm>
          <a:prstGeom prst="rect">
            <a:avLst/>
          </a:prstGeom>
          <a:noFill/>
          <a:ln/>
        </p:spPr>
        <p:txBody>
          <a:bodyPr wrap="square" lIns="0" tIns="0" rIns="0" bIns="0" rtlCol="0" anchor="ctr">
            <a:normAutofit/>
          </a:bodyPr>
          <a:lstStyle/>
          <a:p>
            <a:pPr algn="l" indent="0" marL="0">
              <a:buNone/>
            </a:pPr>
            <a:r>
              <a:rPr lang="en-US" sz="1600" b="1" dirty="0">
                <a:solidFill>
                  <a:srgbClr val="75B6FF"/>
                </a:solidFill>
                <a:latin typeface="Aptos" pitchFamily="34" charset="0"/>
                <a:ea typeface="Aptos" pitchFamily="34" charset="-122"/>
                <a:cs typeface="Aptos" pitchFamily="34" charset="-120"/>
              </a:rPr>
              <a:t>AI-MEDIATED DISCOVERY</a:t>
            </a:r>
            <a:endParaRPr lang="en-US" sz="1600" dirty="0"/>
          </a:p>
        </p:txBody>
      </p:sp>
      <p:sp>
        <p:nvSpPr>
          <p:cNvPr id="13" name="Text 11"/>
          <p:cNvSpPr/>
          <p:nvPr/>
        </p:nvSpPr>
        <p:spPr>
          <a:xfrm>
            <a:off x="6492240" y="2377440"/>
            <a:ext cx="4846320" cy="667512"/>
          </a:xfrm>
          <a:prstGeom prst="rect">
            <a:avLst/>
          </a:prstGeom>
          <a:noFill/>
          <a:ln/>
        </p:spPr>
        <p:txBody>
          <a:bodyPr wrap="square" lIns="0" tIns="0" rIns="0" bIns="0" rtlCol="0" anchor="ctr">
            <a:normAutofit/>
          </a:bodyPr>
          <a:lstStyle/>
          <a:p>
            <a:pPr algn="l" indent="0" marL="0">
              <a:buNone/>
            </a:pPr>
            <a:r>
              <a:rPr lang="en-US" sz="1750" dirty="0">
                <a:solidFill>
                  <a:srgbClr val="F7FAFF"/>
                </a:solidFill>
                <a:latin typeface="Aptos" pitchFamily="34" charset="0"/>
                <a:ea typeface="Aptos" pitchFamily="34" charset="-122"/>
                <a:cs typeface="Aptos" pitchFamily="34" charset="-120"/>
              </a:rPr>
              <a:t>Search, assistants, and recommendations influence choice</a:t>
            </a:r>
            <a:endParaRPr lang="en-US" sz="1750" dirty="0"/>
          </a:p>
        </p:txBody>
      </p:sp>
      <p:sp>
        <p:nvSpPr>
          <p:cNvPr id="14" name="Shape 12"/>
          <p:cNvSpPr/>
          <p:nvPr/>
        </p:nvSpPr>
        <p:spPr>
          <a:xfrm>
            <a:off x="658368" y="3538728"/>
            <a:ext cx="5330952" cy="1636776"/>
          </a:xfrm>
          <a:prstGeom prst="roundRect">
            <a:avLst>
              <a:gd name="adj" fmla="val 9497"/>
            </a:avLst>
          </a:prstGeom>
          <a:solidFill>
            <a:srgbClr val="1B2D47"/>
          </a:solidFill>
          <a:ln w="12700">
            <a:solidFill>
              <a:srgbClr val="1B2D47"/>
            </a:solidFill>
            <a:prstDash val="solid"/>
          </a:ln>
        </p:spPr>
      </p:sp>
      <p:sp>
        <p:nvSpPr>
          <p:cNvPr id="15" name="Text 13"/>
          <p:cNvSpPr/>
          <p:nvPr/>
        </p:nvSpPr>
        <p:spPr>
          <a:xfrm>
            <a:off x="859536" y="3739896"/>
            <a:ext cx="4882896" cy="320040"/>
          </a:xfrm>
          <a:prstGeom prst="rect">
            <a:avLst/>
          </a:prstGeom>
          <a:noFill/>
          <a:ln/>
        </p:spPr>
        <p:txBody>
          <a:bodyPr wrap="square" lIns="0" tIns="0" rIns="0" bIns="0" rtlCol="0" anchor="ctr">
            <a:normAutofit/>
          </a:bodyPr>
          <a:lstStyle/>
          <a:p>
            <a:pPr algn="l" indent="0" marL="0">
              <a:buNone/>
            </a:pPr>
            <a:r>
              <a:rPr lang="en-US" sz="1600" b="1" dirty="0">
                <a:solidFill>
                  <a:srgbClr val="FD9CA4"/>
                </a:solidFill>
                <a:latin typeface="Aptos" pitchFamily="34" charset="0"/>
                <a:ea typeface="Aptos" pitchFamily="34" charset="-122"/>
                <a:cs typeface="Aptos" pitchFamily="34" charset="-120"/>
              </a:rPr>
              <a:t>TRUST IS FRAGILE</a:t>
            </a:r>
            <a:endParaRPr lang="en-US" sz="1600" dirty="0"/>
          </a:p>
        </p:txBody>
      </p:sp>
      <p:sp>
        <p:nvSpPr>
          <p:cNvPr id="16" name="Text 14"/>
          <p:cNvSpPr/>
          <p:nvPr/>
        </p:nvSpPr>
        <p:spPr>
          <a:xfrm>
            <a:off x="859536" y="4279392"/>
            <a:ext cx="4846320" cy="667512"/>
          </a:xfrm>
          <a:prstGeom prst="rect">
            <a:avLst/>
          </a:prstGeom>
          <a:noFill/>
          <a:ln/>
        </p:spPr>
        <p:txBody>
          <a:bodyPr wrap="square" lIns="0" tIns="0" rIns="0" bIns="0" rtlCol="0" anchor="ctr">
            <a:normAutofit/>
          </a:bodyPr>
          <a:lstStyle/>
          <a:p>
            <a:pPr algn="l" indent="0" marL="0">
              <a:buNone/>
            </a:pPr>
            <a:r>
              <a:rPr lang="en-US" sz="1750" dirty="0">
                <a:solidFill>
                  <a:srgbClr val="F7FAFF"/>
                </a:solidFill>
                <a:latin typeface="Aptos" pitchFamily="34" charset="0"/>
                <a:ea typeface="Aptos" pitchFamily="34" charset="-122"/>
                <a:cs typeface="Aptos" pitchFamily="34" charset="-120"/>
              </a:rPr>
              <a:t>Hallucinations and unsupported claims can do real damage</a:t>
            </a:r>
            <a:endParaRPr lang="en-US" sz="1750" dirty="0"/>
          </a:p>
        </p:txBody>
      </p:sp>
      <p:sp>
        <p:nvSpPr>
          <p:cNvPr id="17" name="Shape 15"/>
          <p:cNvSpPr/>
          <p:nvPr/>
        </p:nvSpPr>
        <p:spPr>
          <a:xfrm>
            <a:off x="6291072" y="3538728"/>
            <a:ext cx="5330952" cy="1636776"/>
          </a:xfrm>
          <a:prstGeom prst="roundRect">
            <a:avLst>
              <a:gd name="adj" fmla="val 9497"/>
            </a:avLst>
          </a:prstGeom>
          <a:solidFill>
            <a:srgbClr val="1B2D47"/>
          </a:solidFill>
          <a:ln w="12700">
            <a:solidFill>
              <a:srgbClr val="1B2D47"/>
            </a:solidFill>
            <a:prstDash val="solid"/>
          </a:ln>
        </p:spPr>
      </p:sp>
      <p:sp>
        <p:nvSpPr>
          <p:cNvPr id="18" name="Text 16"/>
          <p:cNvSpPr/>
          <p:nvPr/>
        </p:nvSpPr>
        <p:spPr>
          <a:xfrm>
            <a:off x="6492240" y="3739896"/>
            <a:ext cx="4882896" cy="320040"/>
          </a:xfrm>
          <a:prstGeom prst="rect">
            <a:avLst/>
          </a:prstGeom>
          <a:noFill/>
          <a:ln/>
        </p:spPr>
        <p:txBody>
          <a:bodyPr wrap="square" lIns="0" tIns="0" rIns="0" bIns="0" rtlCol="0" anchor="ctr">
            <a:normAutofit/>
          </a:bodyPr>
          <a:lstStyle/>
          <a:p>
            <a:pPr algn="l" indent="0" marL="0">
              <a:buNone/>
            </a:pPr>
            <a:r>
              <a:rPr lang="en-US" sz="1600" b="1" dirty="0">
                <a:solidFill>
                  <a:srgbClr val="F8C875"/>
                </a:solidFill>
                <a:latin typeface="Aptos" pitchFamily="34" charset="0"/>
                <a:ea typeface="Aptos" pitchFamily="34" charset="-122"/>
                <a:cs typeface="Aptos" pitchFamily="34" charset="-120"/>
              </a:rPr>
              <a:t>MEASUREMENT MUST EVOLVE</a:t>
            </a:r>
            <a:endParaRPr lang="en-US" sz="1600" dirty="0"/>
          </a:p>
        </p:txBody>
      </p:sp>
      <p:sp>
        <p:nvSpPr>
          <p:cNvPr id="19" name="Text 17"/>
          <p:cNvSpPr/>
          <p:nvPr/>
        </p:nvSpPr>
        <p:spPr>
          <a:xfrm>
            <a:off x="6492240" y="4279392"/>
            <a:ext cx="4846320" cy="667512"/>
          </a:xfrm>
          <a:prstGeom prst="rect">
            <a:avLst/>
          </a:prstGeom>
          <a:noFill/>
          <a:ln/>
        </p:spPr>
        <p:txBody>
          <a:bodyPr wrap="square" lIns="0" tIns="0" rIns="0" bIns="0" rtlCol="0" anchor="ctr">
            <a:normAutofit/>
          </a:bodyPr>
          <a:lstStyle/>
          <a:p>
            <a:pPr algn="l" indent="0" marL="0">
              <a:buNone/>
            </a:pPr>
            <a:r>
              <a:rPr lang="en-US" sz="1750" dirty="0">
                <a:solidFill>
                  <a:srgbClr val="F7FAFF"/>
                </a:solidFill>
                <a:latin typeface="Aptos" pitchFamily="34" charset="0"/>
                <a:ea typeface="Aptos" pitchFamily="34" charset="-122"/>
                <a:cs typeface="Aptos" pitchFamily="34" charset="-120"/>
              </a:rPr>
              <a:t>Track behavior, experiments, customer outcomes, and trust</a:t>
            </a:r>
            <a:endParaRPr lang="en-US" sz="1750" dirty="0"/>
          </a:p>
        </p:txBody>
      </p:sp>
      <p:sp>
        <p:nvSpPr>
          <p:cNvPr id="20" name="Text 18"/>
          <p:cNvSpPr/>
          <p:nvPr/>
        </p:nvSpPr>
        <p:spPr>
          <a:xfrm>
            <a:off x="676656" y="5788152"/>
            <a:ext cx="10991088" cy="466344"/>
          </a:xfrm>
          <a:prstGeom prst="rect">
            <a:avLst/>
          </a:prstGeom>
          <a:noFill/>
          <a:ln/>
        </p:spPr>
        <p:txBody>
          <a:bodyPr wrap="square" lIns="0" tIns="0" rIns="0" bIns="0" rtlCol="0" anchor="ctr">
            <a:normAutofit/>
          </a:bodyPr>
          <a:lstStyle/>
          <a:p>
            <a:pPr algn="l" indent="0" marL="0">
              <a:buNone/>
            </a:pPr>
            <a:r>
              <a:rPr lang="en-US" sz="2200" b="1" dirty="0">
                <a:solidFill>
                  <a:srgbClr val="48D5C3"/>
                </a:solidFill>
                <a:latin typeface="Aptos" pitchFamily="34" charset="0"/>
                <a:ea typeface="Aptos" pitchFamily="34" charset="-122"/>
                <a:cs typeface="Aptos" pitchFamily="34" charset="-120"/>
              </a:rPr>
              <a:t>My question: where is the actual value — and how do we prove it?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728"/>
        </a:solidFill>
      </p:bgPr>
    </p:bg>
    <p:spTree>
      <p:nvGrpSpPr>
        <p:cNvPr id="1" name=""/>
        <p:cNvGrpSpPr/>
        <p:nvPr/>
      </p:nvGrpSpPr>
      <p:grpSpPr>
        <a:xfrm>
          <a:off x="0" y="0"/>
          <a:ext cx="0" cy="0"/>
          <a:chOff x="0" y="0"/>
          <a:chExt cx="0" cy="0"/>
        </a:xfrm>
      </p:grpSpPr>
      <p:sp>
        <p:nvSpPr>
          <p:cNvPr id="2" name="Shape 0"/>
          <p:cNvSpPr/>
          <p:nvPr/>
        </p:nvSpPr>
        <p:spPr>
          <a:xfrm>
            <a:off x="0" y="0"/>
            <a:ext cx="68580" cy="6858000"/>
          </a:xfrm>
          <a:prstGeom prst="rect">
            <a:avLst/>
          </a:prstGeom>
          <a:solidFill>
            <a:srgbClr val="48D5C3"/>
          </a:solidFill>
          <a:ln w="12700">
            <a:solidFill>
              <a:srgbClr val="48D5C3"/>
            </a:solidFill>
            <a:prstDash val="solid"/>
          </a:ln>
        </p:spPr>
      </p:sp>
      <p:sp>
        <p:nvSpPr>
          <p:cNvPr id="3" name="Text 1"/>
          <p:cNvSpPr/>
          <p:nvPr/>
        </p:nvSpPr>
        <p:spPr>
          <a:xfrm>
            <a:off x="548640" y="310896"/>
            <a:ext cx="10058400" cy="265176"/>
          </a:xfrm>
          <a:prstGeom prst="rect">
            <a:avLst/>
          </a:prstGeom>
          <a:noFill/>
          <a:ln/>
        </p:spPr>
        <p:txBody>
          <a:bodyPr wrap="square" lIns="0" tIns="0" rIns="0" bIns="0" rtlCol="0" anchor="ctr">
            <a:normAutofit/>
          </a:bodyPr>
          <a:lstStyle/>
          <a:p>
            <a:pPr algn="l" indent="0" marL="0">
              <a:buNone/>
            </a:pPr>
            <a:r>
              <a:rPr lang="en-US" sz="1080" b="1" spc="180" kern="0" dirty="0">
                <a:solidFill>
                  <a:srgbClr val="48D5C3"/>
                </a:solidFill>
                <a:latin typeface="Aptos" pitchFamily="34" charset="0"/>
                <a:ea typeface="Aptos" pitchFamily="34" charset="-122"/>
                <a:cs typeface="Aptos" pitchFamily="34" charset="-120"/>
              </a:rPr>
              <a:t>FINAL THOUGHT · READING RECOMMENDATION</a:t>
            </a:r>
            <a:endParaRPr lang="en-US" sz="1080" dirty="0"/>
          </a:p>
        </p:txBody>
      </p:sp>
      <p:sp>
        <p:nvSpPr>
          <p:cNvPr id="4" name="Text 2"/>
          <p:cNvSpPr/>
          <p:nvPr/>
        </p:nvSpPr>
        <p:spPr>
          <a:xfrm>
            <a:off x="548640" y="758952"/>
            <a:ext cx="11064240" cy="685800"/>
          </a:xfrm>
          <a:prstGeom prst="rect">
            <a:avLst/>
          </a:prstGeom>
          <a:noFill/>
          <a:ln/>
        </p:spPr>
        <p:txBody>
          <a:bodyPr wrap="square" lIns="0" tIns="0" rIns="0" bIns="0" rtlCol="0" anchor="ctr">
            <a:normAutofit/>
          </a:bodyPr>
          <a:lstStyle/>
          <a:p>
            <a:pPr algn="l" indent="0" marL="0">
              <a:buNone/>
            </a:pPr>
            <a:r>
              <a:rPr lang="en-US" sz="3150" b="1" dirty="0">
                <a:solidFill>
                  <a:srgbClr val="F7FAFF"/>
                </a:solidFill>
                <a:latin typeface="Aptos" pitchFamily="34" charset="0"/>
                <a:ea typeface="Aptos" pitchFamily="34" charset="-122"/>
                <a:cs typeface="Aptos" pitchFamily="34" charset="-120"/>
              </a:rPr>
              <a:t>A thought-provoking paper: from the 7Ps to the 7Gs</a:t>
            </a:r>
            <a:endParaRPr lang="en-US" sz="3150" dirty="0"/>
          </a:p>
        </p:txBody>
      </p:sp>
      <p:sp>
        <p:nvSpPr>
          <p:cNvPr id="5" name="Shape 3"/>
          <p:cNvSpPr/>
          <p:nvPr/>
        </p:nvSpPr>
        <p:spPr>
          <a:xfrm>
            <a:off x="566928" y="6501384"/>
            <a:ext cx="11091672" cy="0"/>
          </a:xfrm>
          <a:prstGeom prst="line">
            <a:avLst/>
          </a:prstGeom>
          <a:noFill/>
          <a:ln w="8255">
            <a:solidFill>
              <a:srgbClr val="344763"/>
            </a:solidFill>
            <a:prstDash val="solid"/>
          </a:ln>
        </p:spPr>
      </p:sp>
      <p:sp>
        <p:nvSpPr>
          <p:cNvPr id="6" name="Text 4"/>
          <p:cNvSpPr/>
          <p:nvPr/>
        </p:nvSpPr>
        <p:spPr>
          <a:xfrm>
            <a:off x="566928" y="6556248"/>
            <a:ext cx="7315200" cy="155448"/>
          </a:xfrm>
          <a:prstGeom prst="rect">
            <a:avLst/>
          </a:prstGeom>
          <a:noFill/>
          <a:ln/>
        </p:spPr>
        <p:txBody>
          <a:bodyPr wrap="square" lIns="0" tIns="0" rIns="0" bIns="0" rtlCol="0" anchor="ctr">
            <a:normAutofit/>
          </a:bodyPr>
          <a:lstStyle/>
          <a:p>
            <a:pPr algn="l" indent="0" marL="0">
              <a:buNone/>
            </a:pPr>
            <a:r>
              <a:rPr lang="en-US" sz="850" spc="100" kern="0" dirty="0">
                <a:solidFill>
                  <a:srgbClr val="A8BAD0"/>
                </a:solidFill>
                <a:latin typeface="Aptos" pitchFamily="34" charset="0"/>
                <a:ea typeface="Aptos" pitchFamily="34" charset="-122"/>
                <a:cs typeface="Aptos" pitchFamily="34" charset="-120"/>
              </a:rPr>
              <a:t>MARKETING MEASUREMENT · CONVERSATION &amp; DEMO</a:t>
            </a:r>
            <a:endParaRPr lang="en-US" sz="850" dirty="0"/>
          </a:p>
        </p:txBody>
      </p:sp>
      <p:sp>
        <p:nvSpPr>
          <p:cNvPr id="7" name="Text 5"/>
          <p:cNvSpPr/>
          <p:nvPr/>
        </p:nvSpPr>
        <p:spPr>
          <a:xfrm>
            <a:off x="11137392" y="6547104"/>
            <a:ext cx="475488" cy="164592"/>
          </a:xfrm>
          <a:prstGeom prst="rect">
            <a:avLst/>
          </a:prstGeom>
          <a:noFill/>
          <a:ln/>
        </p:spPr>
        <p:txBody>
          <a:bodyPr wrap="square" lIns="0" tIns="0" rIns="0" bIns="0" rtlCol="0" anchor="ctr">
            <a:normAutofit/>
          </a:bodyPr>
          <a:lstStyle/>
          <a:p>
            <a:pPr algn="r" indent="0" marL="0">
              <a:buNone/>
            </a:pPr>
            <a:r>
              <a:rPr lang="en-US" sz="900" dirty="0">
                <a:solidFill>
                  <a:srgbClr val="A8BAD0"/>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94944" y="1417320"/>
            <a:ext cx="10753344" cy="521208"/>
          </a:xfrm>
          <a:prstGeom prst="rect">
            <a:avLst/>
          </a:prstGeom>
          <a:noFill/>
          <a:ln/>
        </p:spPr>
        <p:txBody>
          <a:bodyPr wrap="square" lIns="0" tIns="0" rIns="0" bIns="0" rtlCol="0" anchor="ctr">
            <a:normAutofit/>
          </a:bodyPr>
          <a:lstStyle/>
          <a:p>
            <a:pPr algn="l" indent="0" marL="0">
              <a:buNone/>
            </a:pPr>
            <a:r>
              <a:rPr lang="en-US" sz="2220" b="1" dirty="0">
                <a:solidFill>
                  <a:srgbClr val="48D5C3"/>
                </a:solidFill>
                <a:latin typeface="Aptos" pitchFamily="34" charset="0"/>
                <a:ea typeface="Aptos" pitchFamily="34" charset="-122"/>
                <a:cs typeface="Aptos" pitchFamily="34" charset="-120"/>
              </a:rPr>
              <a:t>Marketing mix rebuilding for the age of generative AI</a:t>
            </a:r>
            <a:endParaRPr lang="en-US" sz="2220" dirty="0"/>
          </a:p>
        </p:txBody>
      </p:sp>
      <p:sp>
        <p:nvSpPr>
          <p:cNvPr id="9" name="Text 7"/>
          <p:cNvSpPr/>
          <p:nvPr/>
        </p:nvSpPr>
        <p:spPr>
          <a:xfrm>
            <a:off x="713232" y="1947672"/>
            <a:ext cx="10780776" cy="292608"/>
          </a:xfrm>
          <a:prstGeom prst="rect">
            <a:avLst/>
          </a:prstGeom>
          <a:noFill/>
          <a:ln/>
        </p:spPr>
        <p:txBody>
          <a:bodyPr wrap="square" lIns="0" tIns="0" rIns="0" bIns="0" rtlCol="0" anchor="ctr">
            <a:normAutofit/>
          </a:bodyPr>
          <a:lstStyle/>
          <a:p>
            <a:pPr algn="l" indent="0" marL="0">
              <a:buNone/>
            </a:pPr>
            <a:r>
              <a:rPr lang="en-US" sz="1290" dirty="0">
                <a:solidFill>
                  <a:srgbClr val="A8BAD0"/>
                </a:solidFill>
                <a:latin typeface="Aptos" pitchFamily="34" charset="0"/>
                <a:ea typeface="Aptos" pitchFamily="34" charset="-122"/>
                <a:cs typeface="Aptos" pitchFamily="34" charset="-120"/>
              </a:rPr>
              <a:t>Makrydakis · Spiliotopoulos · Michalakelis · Lymperi  |  2026</a:t>
            </a:r>
            <a:endParaRPr lang="en-US" sz="1290" dirty="0"/>
          </a:p>
        </p:txBody>
      </p:sp>
      <p:sp>
        <p:nvSpPr>
          <p:cNvPr id="10" name="Shape 8"/>
          <p:cNvSpPr/>
          <p:nvPr/>
        </p:nvSpPr>
        <p:spPr>
          <a:xfrm>
            <a:off x="694944" y="2523744"/>
            <a:ext cx="5769864" cy="2542032"/>
          </a:xfrm>
          <a:prstGeom prst="roundRect">
            <a:avLst>
              <a:gd name="adj" fmla="val 6835"/>
            </a:avLst>
          </a:prstGeom>
          <a:solidFill>
            <a:srgbClr val="1B2D47"/>
          </a:solidFill>
          <a:ln w="12700">
            <a:solidFill>
              <a:srgbClr val="1B2D47"/>
            </a:solidFill>
            <a:prstDash val="solid"/>
          </a:ln>
        </p:spPr>
      </p:sp>
      <p:sp>
        <p:nvSpPr>
          <p:cNvPr id="11" name="Text 9"/>
          <p:cNvSpPr/>
          <p:nvPr/>
        </p:nvSpPr>
        <p:spPr>
          <a:xfrm>
            <a:off x="914400" y="2734056"/>
            <a:ext cx="5285232" cy="365760"/>
          </a:xfrm>
          <a:prstGeom prst="rect">
            <a:avLst/>
          </a:prstGeom>
          <a:noFill/>
          <a:ln/>
        </p:spPr>
        <p:txBody>
          <a:bodyPr wrap="square" lIns="0" tIns="0" rIns="0" bIns="0" rtlCol="0" anchor="ctr">
            <a:normAutofit/>
          </a:bodyPr>
          <a:lstStyle/>
          <a:p>
            <a:pPr algn="l" indent="0" marL="0">
              <a:buNone/>
            </a:pPr>
            <a:r>
              <a:rPr lang="en-US" sz="1900" b="1" dirty="0">
                <a:solidFill>
                  <a:srgbClr val="F8C875"/>
                </a:solidFill>
                <a:latin typeface="Aptos" pitchFamily="34" charset="0"/>
                <a:ea typeface="Aptos" pitchFamily="34" charset="-122"/>
                <a:cs typeface="Aptos" pitchFamily="34" charset="-120"/>
              </a:rPr>
              <a:t>The 7G idea</a:t>
            </a:r>
            <a:endParaRPr lang="en-US" sz="1900" dirty="0"/>
          </a:p>
        </p:txBody>
      </p:sp>
      <p:sp>
        <p:nvSpPr>
          <p:cNvPr id="12" name="Text 10"/>
          <p:cNvSpPr/>
          <p:nvPr/>
        </p:nvSpPr>
        <p:spPr>
          <a:xfrm>
            <a:off x="923544" y="3218688"/>
            <a:ext cx="5349240" cy="1444752"/>
          </a:xfrm>
          <a:prstGeom prst="rect">
            <a:avLst/>
          </a:prstGeom>
          <a:noFill/>
          <a:ln/>
        </p:spPr>
        <p:txBody>
          <a:bodyPr wrap="square" lIns="0" tIns="0" rIns="0" bIns="0" rtlCol="0" anchor="t">
            <a:normAutofit/>
          </a:bodyPr>
          <a:lstStyle/>
          <a:p>
            <a:pPr algn="l" indent="0" marL="0">
              <a:buNone/>
            </a:pPr>
            <a:r>
              <a:rPr lang="en-US" sz="1720" dirty="0">
                <a:solidFill>
                  <a:srgbClr val="F7FAFF"/>
                </a:solidFill>
                <a:latin typeface="Aptos" pitchFamily="34" charset="0"/>
                <a:ea typeface="Aptos" pitchFamily="34" charset="-122"/>
                <a:cs typeface="Aptos" pitchFamily="34" charset="-120"/>
              </a:rPr>
              <a:t>Generative offers · Value calibration</a:t>
            </a:r>
            <a:endParaRPr lang="en-US" sz="1720" dirty="0"/>
          </a:p>
          <a:p>
            <a:pPr algn="l" indent="0" marL="0">
              <a:buNone/>
            </a:pPr>
            <a:r>
              <a:rPr lang="en-US" sz="1720" dirty="0">
                <a:solidFill>
                  <a:srgbClr val="F7FAFF"/>
                </a:solidFill>
                <a:latin typeface="Aptos" pitchFamily="34" charset="0"/>
                <a:ea typeface="Aptos" pitchFamily="34" charset="-122"/>
                <a:cs typeface="Aptos" pitchFamily="34" charset="-120"/>
              </a:rPr>
              <a:t>Access architectures · Persuasion systems</a:t>
            </a:r>
            <a:endParaRPr lang="en-US" sz="1720" dirty="0"/>
          </a:p>
          <a:p>
            <a:pPr algn="l" indent="0" marL="0">
              <a:buNone/>
            </a:pPr>
            <a:r>
              <a:rPr lang="en-US" sz="1720" dirty="0">
                <a:solidFill>
                  <a:srgbClr val="F7FAFF"/>
                </a:solidFill>
                <a:latin typeface="Aptos" pitchFamily="34" charset="0"/>
                <a:ea typeface="Aptos" pitchFamily="34" charset="-122"/>
                <a:cs typeface="Aptos" pitchFamily="34" charset="-120"/>
              </a:rPr>
              <a:t>Agency networks · Experience flows</a:t>
            </a:r>
            <a:endParaRPr lang="en-US" sz="1720" dirty="0"/>
          </a:p>
          <a:p>
            <a:pPr algn="l" indent="0" marL="0">
              <a:buNone/>
            </a:pPr>
            <a:r>
              <a:rPr lang="en-US" sz="1720" dirty="0">
                <a:solidFill>
                  <a:srgbClr val="F7FAFF"/>
                </a:solidFill>
                <a:latin typeface="Aptos" pitchFamily="34" charset="0"/>
                <a:ea typeface="Aptos" pitchFamily="34" charset="-122"/>
                <a:cs typeface="Aptos" pitchFamily="34" charset="-120"/>
              </a:rPr>
              <a:t>Trust signals</a:t>
            </a:r>
            <a:endParaRPr lang="en-US" sz="1720" dirty="0"/>
          </a:p>
        </p:txBody>
      </p:sp>
      <p:sp>
        <p:nvSpPr>
          <p:cNvPr id="13" name="Shape 11"/>
          <p:cNvSpPr/>
          <p:nvPr/>
        </p:nvSpPr>
        <p:spPr>
          <a:xfrm>
            <a:off x="6729984" y="2523744"/>
            <a:ext cx="4754880" cy="2542032"/>
          </a:xfrm>
          <a:prstGeom prst="roundRect">
            <a:avLst>
              <a:gd name="adj" fmla="val 6835"/>
            </a:avLst>
          </a:prstGeom>
          <a:solidFill>
            <a:srgbClr val="263B55"/>
          </a:solidFill>
          <a:ln w="12700">
            <a:solidFill>
              <a:srgbClr val="263B55"/>
            </a:solidFill>
            <a:prstDash val="solid"/>
          </a:ln>
        </p:spPr>
      </p:sp>
      <p:sp>
        <p:nvSpPr>
          <p:cNvPr id="14" name="Text 12"/>
          <p:cNvSpPr/>
          <p:nvPr/>
        </p:nvSpPr>
        <p:spPr>
          <a:xfrm>
            <a:off x="6986016" y="2734056"/>
            <a:ext cx="4215384" cy="365760"/>
          </a:xfrm>
          <a:prstGeom prst="rect">
            <a:avLst/>
          </a:prstGeom>
          <a:noFill/>
          <a:ln/>
        </p:spPr>
        <p:txBody>
          <a:bodyPr wrap="square" lIns="0" tIns="0" rIns="0" bIns="0" rtlCol="0" anchor="ctr">
            <a:normAutofit/>
          </a:bodyPr>
          <a:lstStyle/>
          <a:p>
            <a:pPr algn="l" indent="0" marL="0">
              <a:buNone/>
            </a:pPr>
            <a:r>
              <a:rPr lang="en-US" sz="1900" b="1" dirty="0">
                <a:solidFill>
                  <a:srgbClr val="48D5C3"/>
                </a:solidFill>
                <a:latin typeface="Aptos" pitchFamily="34" charset="0"/>
                <a:ea typeface="Aptos" pitchFamily="34" charset="-122"/>
                <a:cs typeface="Aptos" pitchFamily="34" charset="-120"/>
              </a:rPr>
              <a:t>What interests me</a:t>
            </a:r>
            <a:endParaRPr lang="en-US" sz="1900" dirty="0"/>
          </a:p>
        </p:txBody>
      </p:sp>
      <p:sp>
        <p:nvSpPr>
          <p:cNvPr id="15" name="Text 13"/>
          <p:cNvSpPr/>
          <p:nvPr/>
        </p:nvSpPr>
        <p:spPr>
          <a:xfrm>
            <a:off x="6986016" y="3264408"/>
            <a:ext cx="4206240" cy="1371600"/>
          </a:xfrm>
          <a:prstGeom prst="rect">
            <a:avLst/>
          </a:prstGeom>
          <a:noFill/>
          <a:ln/>
        </p:spPr>
        <p:txBody>
          <a:bodyPr wrap="square" lIns="0" tIns="0" rIns="0" bIns="0" rtlCol="0" anchor="t">
            <a:normAutofit/>
          </a:bodyPr>
          <a:lstStyle/>
          <a:p>
            <a:pPr algn="l" indent="0" marL="0">
              <a:buNone/>
            </a:pPr>
            <a:r>
              <a:rPr lang="en-US" sz="1800" dirty="0">
                <a:solidFill>
                  <a:srgbClr val="F7FAFF"/>
                </a:solidFill>
                <a:latin typeface="Aptos" pitchFamily="34" charset="0"/>
                <a:ea typeface="Aptos" pitchFamily="34" charset="-122"/>
                <a:cs typeface="Aptos" pitchFamily="34" charset="-120"/>
              </a:rPr>
              <a:t>It asks the right questions about influence, trust and AI-shaped decisions — but does not finish the practical measurement problem.</a:t>
            </a:r>
            <a:endParaRPr lang="en-US" sz="1800" dirty="0"/>
          </a:p>
        </p:txBody>
      </p:sp>
      <p:sp>
        <p:nvSpPr>
          <p:cNvPr id="16" name="Text 14"/>
          <p:cNvSpPr/>
          <p:nvPr/>
        </p:nvSpPr>
        <p:spPr>
          <a:xfrm>
            <a:off x="704088" y="5468112"/>
            <a:ext cx="10881360" cy="713232"/>
          </a:xfrm>
          <a:prstGeom prst="rect">
            <a:avLst/>
          </a:prstGeom>
          <a:noFill/>
          <a:ln/>
        </p:spPr>
        <p:txBody>
          <a:bodyPr wrap="square" lIns="0" tIns="0" rIns="0" bIns="0" rtlCol="0" anchor="ctr">
            <a:normAutofit/>
          </a:bodyPr>
          <a:lstStyle/>
          <a:p>
            <a:pPr algn="l" indent="0" marL="0">
              <a:buNone/>
            </a:pPr>
            <a:r>
              <a:rPr lang="en-US" sz="2400" b="1" dirty="0">
                <a:solidFill>
                  <a:srgbClr val="F7FAFF"/>
                </a:solidFill>
                <a:latin typeface="Aptos" pitchFamily="34" charset="0"/>
                <a:ea typeface="Aptos" pitchFamily="34" charset="-122"/>
                <a:cs typeface="Aptos" pitchFamily="34" charset="-120"/>
              </a:rPr>
              <a:t>How do we prove AI helps customers and businesses — without damaging trust?</a:t>
            </a:r>
            <a:endParaRPr lang="en-US" sz="2400" dirty="0"/>
          </a:p>
        </p:txBody>
      </p:sp>
      <p:sp>
        <p:nvSpPr>
          <p:cNvPr id="17" name="Text 15">
            <a:hlinkClick r:id="rId1" tooltip=""/>
          </p:cNvPr>
          <p:cNvSpPr/>
          <p:nvPr/>
        </p:nvSpPr>
        <p:spPr>
          <a:xfrm>
            <a:off x="722376" y="6236208"/>
            <a:ext cx="10698480" cy="246888"/>
          </a:xfrm>
          <a:prstGeom prst="rect">
            <a:avLst/>
          </a:prstGeom>
          <a:noFill/>
          <a:ln/>
        </p:spPr>
        <p:txBody>
          <a:bodyPr wrap="square" lIns="0" tIns="0" rIns="0" bIns="0" rtlCol="0" anchor="ctr">
            <a:normAutofit/>
          </a:bodyPr>
          <a:lstStyle/>
          <a:p>
            <a:pPr algn="l" indent="0" marL="0">
              <a:buNone/>
            </a:pPr>
            <a:r>
              <a:rPr lang="en-US" sz="1070" u="sng" dirty="0">
                <a:solidFill>
                  <a:srgbClr val="A8BAD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paper  ·  DOI: 10.33545/26648792.2026.v8.i1a.597</a:t>
            </a:r>
            <a:endParaRPr lang="en-US" sz="10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Measurement: From Attribution to Influence</dc:title>
  <dc:subject>Introductory conversation about marketing attribution, incrementality, Meridian and generative AI</dc:subject>
  <dc:creator>OpenAI</dc:creator>
  <cp:lastModifiedBy>OpenAI</cp:lastModifiedBy>
  <cp:revision>1</cp:revision>
  <dcterms:created xsi:type="dcterms:W3CDTF">2026-10-28T22:12:32Z</dcterms:created>
  <dcterms:modified xsi:type="dcterms:W3CDTF">2026-10-28T22:12:32Z</dcterms:modified>
</cp:coreProperties>
</file>